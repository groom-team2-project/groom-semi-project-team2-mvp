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25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8.xml" /><ns0:Relationship Id="rId9" Type="http://schemas.openxmlformats.org/officeDocument/2006/relationships/slide" Target="slides/slide9.xml" /><ns0:Relationship Id="rId10" Type="http://schemas.openxmlformats.org/officeDocument/2006/relationships/slide" Target="slides/slide10.xml" /><ns0:Relationship Id="rId11" Type="http://schemas.openxmlformats.org/officeDocument/2006/relationships/slide" Target="slides/slide11.xml" /><ns0:Relationship Id="rId12" Type="http://schemas.openxmlformats.org/officeDocument/2006/relationships/slide" Target="slides/slide12.xml" /><ns0:Relationship Id="rId13" Type="http://schemas.openxmlformats.org/officeDocument/2006/relationships/slide" Target="slides/slide13.xml" /><ns0:Relationship Id="rId14" Type="http://schemas.openxmlformats.org/officeDocument/2006/relationships/slide" Target="slides/slide14.xml" /><ns0:Relationship Id="rId15" Type="http://schemas.openxmlformats.org/officeDocument/2006/relationships/slide" Target="slides/slide15.xml" /><ns0:Relationship Id="rId16" Type="http://schemas.openxmlformats.org/officeDocument/2006/relationships/slide" Target="slides/slide16.xml" /><ns0:Relationship Id="rId17" Type="http://schemas.openxmlformats.org/officeDocument/2006/relationships/slide" Target="slides/slide17.xml" /><ns0:Relationship Id="rId18" Type="http://schemas.openxmlformats.org/officeDocument/2006/relationships/slide" Target="slides/slide18.xml" /><ns0:Relationship Id="rId19" Type="http://schemas.openxmlformats.org/officeDocument/2006/relationships/notesMaster" Target="notesMasters/notesMaster1.xml" /><ns0:Relationship Id="rId20" Type="http://schemas.openxmlformats.org/officeDocument/2006/relationships/presProps" Target="presProps.xml" /><ns0:Relationship Id="rId21" Type="http://schemas.openxmlformats.org/officeDocument/2006/relationships/viewProps" Target="viewProps.xml" /><ns0:Relationship Id="rId22" Type="http://schemas.openxmlformats.org/officeDocument/2006/relationships/theme" Target="theme/theme1.xml" /><ns0:Relationship Id="rId23" Type="http://schemas.openxmlformats.org/officeDocument/2006/relationships/tableStyles" Target="tableStyles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src/main/java/org/example/groommvp/domain/*</a:t>
            </a:r>
          </a:p>
          <a:p>
            <a:r>
              <a:t>src/main/java/org/example/groommvp/global/config/SecurityConfig.java</a:t>
            </a:r>
          </a:p>
          <a:p>
            <a:r>
              <a:t>docker-compose.yml</a:t>
            </a:r>
          </a:p>
          <a:p>
            <a:r>
              <a:t>build.gradle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src/main/java/org/example/groommvp/domain/auth/controller/AuthController.java</a:t>
            </a:r>
          </a:p>
          <a:p>
            <a:r>
              <a:t>src/main/java/org/example/groommvp/domain/product/controller/ProductController.java</a:t>
            </a:r>
          </a:p>
          <a:p>
            <a:r>
              <a:t>src/main/java/org/example/groommvp/domain/stock/controller/StockController.java</a:t>
            </a:r>
          </a:p>
          <a:p>
            <a:r>
              <a:t>src/main/java/org/example/groommvp/domain/order/controller/PurchaseController.java</a:t>
            </a:r>
          </a:p>
          <a:p>
            <a:r>
              <a:t>src/main/java/org/example/groommvp/domain/cart/controller/CartController.java</a:t>
            </a:r>
          </a:p>
          <a:p>
            <a:r>
              <a:t>src/main/java/org/example/groommvp/domain/coupon/controller/CouponController.java</a:t>
            </a:r>
          </a:p>
          <a:p>
            <a:r>
              <a:t>src/main/java/org/example/groommvp/domain/event/controller/FirstComeEventController.java</a:t>
            </a:r>
          </a:p>
          <a:p>
            <a:r>
              <a:t>src/main/java/org/example/groommvp/domain/review/controller/ReviewController.java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frontend/src/App.tsx</a:t>
            </a:r>
          </a:p>
          <a:p>
            <a:r>
              <a:t>src/main/java/org/example/groommvp/domain/order/service/PurchaseService.java</a:t>
            </a:r>
          </a:p>
          <a:p>
            <a:r>
              <a:t>src/main/java/org/example/groommvp/domain/cart/service/CartOrderService.java</a:t>
            </a:r>
          </a:p>
          <a:p>
            <a:r>
              <a:t>src/main/java/org/example/groommvp/domain/payment/service/PaymentService.java</a:t>
            </a:r>
          </a:p>
          <a:p>
            <a:r>
              <a:t>src/main/java/org/example/groommvp/domain/cancel/service/OrderCancelService.java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src/main/java/org/example/groommvp/domain/auth/controller/AuthController.java</a:t>
            </a:r>
          </a:p>
          <a:p>
            <a:r>
              <a:t>src/main/java/org/example/groommvp/domain/auth/service/AuthService.java</a:t>
            </a:r>
          </a:p>
          <a:p>
            <a:r>
              <a:t>src/main/java/org/example/groommvp/domain/auth/security/JwtAuthenticationFilter.java</a:t>
            </a:r>
          </a:p>
          <a:p>
            <a:r>
              <a:t>src/main/java/org/example/groommvp/domain/auth/security/AuthMember.java</a:t>
            </a:r>
          </a:p>
          <a:p>
            <a:r>
              <a:t>src/main/java/org/example/groommvp/global/config/SecurityConfig.java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src/main/java/org/example/groommvp/domain/order/service/PurchaseService.java</a:t>
            </a:r>
          </a:p>
          <a:p>
            <a:r>
              <a:t>src/main/java/org/example/groommvp/domain/payment/service/PaymentService.java</a:t>
            </a:r>
          </a:p>
          <a:p>
            <a:r>
              <a:t>src/main/java/org/example/groommvp/domain/cancel/service/OrderCancelService.java</a:t>
            </a:r>
          </a:p>
          <a:p>
            <a:r>
              <a:t>src/main/java/org/example/groommvp/domain/stock/entity/StockEntity.java</a:t>
            </a:r>
          </a:p>
          <a:p>
            <a:r>
              <a:t>src/main/java/org/example/groommvp/domain/stock/entity/StockHistoryEntity.java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src/main/java/org/example/groommvp/domain/stock/repository/StockRepository.java</a:t>
            </a:r>
          </a:p>
          <a:p>
            <a:r>
              <a:t>src/main/java/org/example/groommvp/domain/coupon/repository/CouponRepository.java</a:t>
            </a:r>
          </a:p>
          <a:p>
            <a:r>
              <a:t>src/main/java/org/example/groommvp/domain/event/service/FirstComeEventService.java</a:t>
            </a:r>
          </a:p>
          <a:p>
            <a:r>
              <a:t>src/main/java/org/example/groommvp/domain/auth/service/RefreshTokenService.java</a:t>
            </a:r>
          </a:p>
          <a:p>
            <a:r>
              <a:t>src/test/java/org/example/groommvp/domain/order/service/PurchaseServiceConcurrencyTest.java</a:t>
            </a:r>
          </a:p>
          <a:p>
            <a:r>
              <a:t>src/test/java/org/example/groommvp/domain/event/service/FirstComeEventServiceConcurrencyTest.java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src/main/java/org/example/groommvp/domain/cart/service/CartService.java</a:t>
            </a:r>
          </a:p>
          <a:p>
            <a:r>
              <a:t>src/main/java/org/example/groommvp/domain/cart/service/CartOrderService.java</a:t>
            </a:r>
          </a:p>
          <a:p>
            <a:r>
              <a:t>src/main/java/org/example/groommvp/domain/order/service/OrderQueryService.java</a:t>
            </a:r>
          </a:p>
          <a:p>
            <a:r>
              <a:t>src/main/java/org/example/groommvp/domain/coupon/service/CouponService.java</a:t>
            </a:r>
          </a:p>
          <a:p>
            <a:r>
              <a:t>src/main/java/org/example/groommvp/domain/review/service/ReviewService.java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src/main/java/org/example/groommvp/domain/auth/service/OAuthStateService.java</a:t>
            </a:r>
          </a:p>
          <a:p>
            <a:r>
              <a:t>src/main/java/org/example/groommvp/domain/auth/service/RefreshTokenService.java</a:t>
            </a:r>
          </a:p>
          <a:p>
            <a:r>
              <a:t>src/main/java/org/example/groommvp/domain/cart/config/CartCacheConfig.java</a:t>
            </a:r>
          </a:p>
          <a:p>
            <a:r>
              <a:t>src/main/java/org/example/groommvp/domain/event/service/FirstComeEventService.java</a:t>
            </a:r>
          </a:p>
          <a:p>
            <a:r>
              <a:t>src/main/java/org/example/groommvp/global/config/RedisConfig.java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src/main/java/org/example/groommvp/global/config/OpenApiConfig.java</a:t>
            </a:r>
          </a:p>
          <a:p>
            <a:r>
              <a:t>src/main/java/org/example/groommvp/global/config/SecurityErrorResponseWriter.java</a:t>
            </a:r>
          </a:p>
          <a:p>
            <a:r>
              <a:t>src/main/java/org/example/groommvp/global/error/ErrorCode.java</a:t>
            </a:r>
          </a:p>
          <a:p>
            <a:r>
              <a:t>src/main/java/org/example/groommvp/global/error/GlobalExceptionHandler.java</a:t>
            </a:r>
          </a:p>
          <a:p>
            <a:r>
              <a:t>src/main/java/org/example/groommvp/global/dto/CommonResponse.java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docker-compose.yml</a:t>
            </a:r>
          </a:p>
          <a:p>
            <a:r>
              <a:t>src/main/resources/application.yaml</a:t>
            </a:r>
          </a:p>
          <a:p>
            <a:r>
              <a:t>src/main/resources/application-local.yaml</a:t>
            </a:r>
          </a:p>
          <a:p>
            <a:r>
              <a:t>src/main/resources/application-mysql.yaml</a:t>
            </a:r>
          </a:p>
          <a:p>
            <a:r>
              <a:t>src/main/java/org/example/groommvp/global/config/RedisConfig.java</a:t>
            </a:r>
          </a:p>
          <a:p>
            <a:r>
              <a:t>build.gradle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src/test/java/org/example/groommvp/domain/order/service/PurchaseServiceConcurrencyTest.java</a:t>
            </a:r>
          </a:p>
          <a:p>
            <a:r>
              <a:t>src/test/java/org/example/groommvp/domain/order/controller/PurchaseApiMockMvcTest.java</a:t>
            </a:r>
          </a:p>
          <a:p>
            <a:r>
              <a:t>src/test/java/org/example/groommvp/system/SystemScenarioMockMvcTest.java</a:t>
            </a:r>
          </a:p>
          <a:p>
            <a:r>
              <a:t>src/test/java/org/example/groommvp/domain/auth/service/RefreshTokenServiceTest.java</a:t>
            </a:r>
          </a:p>
          <a:p>
            <a:r>
              <a:t>src/test/java/org/example/groommvp/domain/event/service/FirstComeEventServiceConcurrencyTest.java</a:t>
            </a:r>
          </a:p>
          <a:p>
            <a:r>
              <a:t>src/test/java/org/example/groommvp/domain/payment/service/PaymentServiceTest.java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Questions derived from current project implementation in src/main/java and src/test/java, especially auth/order/payment/stock/cart/coupon/event/review/security/infra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C:/Users/ParkSunWoo/Bootcamp/GroomMVP/outputs/SoldOut-기획서_역할분담_일정수정.pdf</a:t>
            </a:r>
          </a:p>
          <a:p>
            <a:r>
              <a:t>src/main/java/org/example/groommvp/domain/auth</a:t>
            </a:r>
          </a:p>
          <a:p>
            <a:r>
              <a:t>src/main/java/org/example/groommvp/domain/product</a:t>
            </a:r>
          </a:p>
          <a:p>
            <a:r>
              <a:t>src/main/java/org/example/groommvp/domain/order</a:t>
            </a:r>
          </a:p>
          <a:p>
            <a:r>
              <a:t>src/main/java/org/example/groommvp/domain/payment</a:t>
            </a:r>
          </a:p>
          <a:p>
            <a:r>
              <a:t>src/main/java/org/example/groommvp/domain/cart</a:t>
            </a:r>
          </a:p>
          <a:p>
            <a:r>
              <a:t>src/main/java/org/example/groommvp/domain/coupon</a:t>
            </a:r>
          </a:p>
          <a:p>
            <a:r>
              <a:t>src/main/java/org/example/groommvp/domain/review</a:t>
            </a:r>
          </a:p>
          <a:p>
            <a:r>
              <a:t>docker-compose.yml</a:t>
            </a:r>
          </a:p>
          <a:p>
            <a:r>
              <a:t>build.gradle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C:/Users/ParkSunWoo/Bootcamp/GroomMVP/outputs/SoldOut-기획서_역할분담_일정수정.pdf</a:t>
            </a:r>
          </a:p>
          <a:p>
            <a:r>
              <a:t>Current implementation checked through src/main/java, src/test/java, frontend/src, docker-compose.yml, build.gradle.</a:t>
            </a:r>
          </a:p>
          <a:p>
            <a:r>
              <a:t>Notion source was provided by URL but not directly accessible in this environment; slide marks that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Notion export: MVP 기능 범위 합의 상세 4ceba01f96bf41d0bfc4ba2d871fc1e4.md</a:t>
            </a:r>
          </a:p>
          <a:p>
            <a:r>
              <a:t>Notion export: 팀 프로젝트 23c029a959024222bb2b1b97ead7f296.md</a:t>
            </a:r>
          </a:p>
          <a:p>
            <a:r>
              <a:t>Current code: src/main/java/org/example/groommvp/domain/product, order, stock, auth, cancel, cart, coupon, review</a:t>
            </a:r>
          </a:p>
          <a:p>
            <a:r>
              <a:t>Current code: src/main/java/org/example/groommvp/global/config/SecurityConfig.java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Notion export: 팀 프로젝트 23c029a959024222bb2b1b97ead7f296.md</a:t>
            </a:r>
          </a:p>
          <a:p>
            <a:r>
              <a:t>Current code: src/main/java/org/example/groommvp/global/config/SecurityConfig.java</a:t>
            </a:r>
          </a:p>
          <a:p>
            <a:r>
              <a:t>Current code: src/main/java/org/example/groommvp/domain/payment/controller/PaymentController.java</a:t>
            </a:r>
          </a:p>
          <a:p>
            <a:r>
              <a:t>Current code: src/main/java/org/example/groommvp/domain/stock/controller/StockController.java</a:t>
            </a:r>
          </a:p>
          <a:p>
            <a:r>
              <a:t>Current code: src/main/java/org/example/groommvp/domain/review/service/ReviewService.java</a:t>
            </a:r>
          </a:p>
          <a:p>
            <a:r>
              <a:t>Current code: src/main/java/org/example/groommvp/domain/product/service/ImageService.java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8EA093-E5A0-4B70-935D-85D5CDD0C624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5143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SoldOut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B7F6CF-2B57-4E80-817F-2E229A74D0A7}"/>
              </a:ext>
            </a:extLst>
          </p:cNvPr>
          <p:cNvSpPr>
            <a:spLocks noGrp="1"/>
          </p:cNvSpPr>
          <p:nvPr/>
        </p:nvSpPr>
        <p:spPr>
          <a:xfrm>
            <a:off x="628650" y="129540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23B52"/>
                </a:solidFill>
              </a:defRPr>
            </a:pPr>
            <a:r>
              <a:rPr sz="2400" b="1">
                <a:solidFill>
                  <a:srgbClr val="123B52"/>
                </a:solidFill>
              </a:rPr>
              <a:t>프로젝트 전반 멘토링 자료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9E1B8-7BC6-484D-A8FB-327B3D08D375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6347904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현재 코드 기준: </a:t>
            </a:r>
          </a:p>
          <a:p>
            <a:pPr>
              <a:buNone/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인증/인가, 상품, 재고, 주문, 결제, 장바구니, 쿠폰, 이벤트, 리뷰, 인프라, </a:t>
            </a:r>
          </a:p>
          <a:p>
            <a:pPr>
              <a:buNone/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테스트까지 함께 점검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5FDFE9E-8DBB-48C8-B707-3068E59C70A0}"/>
              </a:ext>
            </a:extLst>
          </p:cNvPr>
          <p:cNvSpPr>
            <a:spLocks noGrp="1"/>
          </p:cNvSpPr>
          <p:nvPr/>
        </p:nvSpPr>
        <p:spPr>
          <a:xfrm>
            <a:off x="7734300" y="704850"/>
            <a:ext cx="3238500" cy="4171950"/>
          </a:xfrm>
          <a:prstGeom prst="roundRect">
            <a:avLst>
              <a:gd name="adj" fmla="val 2353"/>
            </a:avLst>
          </a:prstGeom>
          <a:solidFill>
            <a:srgbClr val="FBFAF7"/>
          </a:solidFill>
          <a:ln w="9525">
            <a:solidFill>
              <a:srgbClr val="D7D0C2"/>
            </a:solidFill>
            <a:prstDash val="solid"/>
          </a:ln>
        </p:spPr>
        <p:txBody>
          <a:bodyPr/>
          <a:p/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71540CC-2643-4DB2-A801-2B33B6826C32}"/>
              </a:ext>
            </a:extLst>
          </p:cNvPr>
          <p:cNvSpPr>
            <a:spLocks noGrp="1"/>
          </p:cNvSpPr>
          <p:nvPr/>
        </p:nvSpPr>
        <p:spPr>
          <a:xfrm>
            <a:off x="8020050" y="990600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p/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4620A2-18BE-4497-9966-49961AB24F89}"/>
              </a:ext>
            </a:extLst>
          </p:cNvPr>
          <p:cNvSpPr>
            <a:spLocks noGrp="1"/>
          </p:cNvSpPr>
          <p:nvPr/>
        </p:nvSpPr>
        <p:spPr>
          <a:xfrm>
            <a:off x="8020050" y="990600"/>
            <a:ext cx="66675" cy="66675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45FA53-1218-465D-9BD5-719D166C2F51}"/>
              </a:ext>
            </a:extLst>
          </p:cNvPr>
          <p:cNvSpPr>
            <a:spLocks noGrp="1"/>
          </p:cNvSpPr>
          <p:nvPr/>
        </p:nvSpPr>
        <p:spPr>
          <a:xfrm>
            <a:off x="8229600" y="11620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Auth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4880FE-AD71-4733-8CE2-3659D82AAE6F}"/>
              </a:ext>
            </a:extLst>
          </p:cNvPr>
          <p:cNvSpPr>
            <a:spLocks noGrp="1"/>
          </p:cNvSpPr>
          <p:nvPr/>
        </p:nvSpPr>
        <p:spPr>
          <a:xfrm>
            <a:off x="8178691" y="1390650"/>
            <a:ext cx="2539014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Kakao OAuth + JWT + Redis state/refresh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1477297-1D9A-46D3-ABE7-D714ECBE584C}"/>
              </a:ext>
            </a:extLst>
          </p:cNvPr>
          <p:cNvSpPr>
            <a:spLocks noGrp="1"/>
          </p:cNvSpPr>
          <p:nvPr/>
        </p:nvSpPr>
        <p:spPr>
          <a:xfrm>
            <a:off x="8020050" y="1885950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p/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129428-CBAA-415A-9455-1A5BD935D42C}"/>
              </a:ext>
            </a:extLst>
          </p:cNvPr>
          <p:cNvSpPr>
            <a:spLocks noGrp="1"/>
          </p:cNvSpPr>
          <p:nvPr/>
        </p:nvSpPr>
        <p:spPr>
          <a:xfrm>
            <a:off x="8020050" y="1885950"/>
            <a:ext cx="66675" cy="6667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E21555-7191-4B4D-84BF-DA78DFC22057}"/>
              </a:ext>
            </a:extLst>
          </p:cNvPr>
          <p:cNvSpPr>
            <a:spLocks noGrp="1"/>
          </p:cNvSpPr>
          <p:nvPr/>
        </p:nvSpPr>
        <p:spPr>
          <a:xfrm>
            <a:off x="8229600" y="205740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Commerce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7EC401-5D5A-44A1-B47C-391653AA645A}"/>
              </a:ext>
            </a:extLst>
          </p:cNvPr>
          <p:cNvSpPr>
            <a:spLocks noGrp="1"/>
          </p:cNvSpPr>
          <p:nvPr/>
        </p:nvSpPr>
        <p:spPr>
          <a:xfrm>
            <a:off x="8229600" y="2337417"/>
            <a:ext cx="23050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Product + Stock + Order + Payment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A237668-573F-4F8A-8FAF-82A75E7879D2}"/>
              </a:ext>
            </a:extLst>
          </p:cNvPr>
          <p:cNvSpPr>
            <a:spLocks noGrp="1"/>
          </p:cNvSpPr>
          <p:nvPr/>
        </p:nvSpPr>
        <p:spPr>
          <a:xfrm>
            <a:off x="8020050" y="2781300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p/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AC8F13-6A95-4ED1-8D78-5D0929CE58FA}"/>
              </a:ext>
            </a:extLst>
          </p:cNvPr>
          <p:cNvSpPr>
            <a:spLocks noGrp="1"/>
          </p:cNvSpPr>
          <p:nvPr/>
        </p:nvSpPr>
        <p:spPr>
          <a:xfrm>
            <a:off x="8020050" y="2781300"/>
            <a:ext cx="66675" cy="66675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35FDD9-E33F-4AB1-8038-721177FFA869}"/>
              </a:ext>
            </a:extLst>
          </p:cNvPr>
          <p:cNvSpPr>
            <a:spLocks noGrp="1"/>
          </p:cNvSpPr>
          <p:nvPr/>
        </p:nvSpPr>
        <p:spPr>
          <a:xfrm>
            <a:off x="8229600" y="29527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User Data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B55029-CA31-4C9D-96A2-164444D2DAE8}"/>
              </a:ext>
            </a:extLst>
          </p:cNvPr>
          <p:cNvSpPr>
            <a:spLocks noGrp="1"/>
          </p:cNvSpPr>
          <p:nvPr/>
        </p:nvSpPr>
        <p:spPr>
          <a:xfrm>
            <a:off x="8229600" y="3219450"/>
            <a:ext cx="23050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Cart + Coupon + Review + Member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3965C76-06D0-4E51-925D-AD89A50EB4EB}"/>
              </a:ext>
            </a:extLst>
          </p:cNvPr>
          <p:cNvSpPr>
            <a:spLocks noGrp="1"/>
          </p:cNvSpPr>
          <p:nvPr/>
        </p:nvSpPr>
        <p:spPr>
          <a:xfrm>
            <a:off x="8020050" y="3676650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  <p:txBody>
          <a:bodyPr/>
          <a:p/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219720-2C84-430A-93F3-6F62725F1E11}"/>
              </a:ext>
            </a:extLst>
          </p:cNvPr>
          <p:cNvSpPr>
            <a:spLocks noGrp="1"/>
          </p:cNvSpPr>
          <p:nvPr/>
        </p:nvSpPr>
        <p:spPr>
          <a:xfrm>
            <a:off x="8020050" y="3676650"/>
            <a:ext cx="66675" cy="666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783491-3E40-41A2-92F3-93758C4B0B71}"/>
              </a:ext>
            </a:extLst>
          </p:cNvPr>
          <p:cNvSpPr>
            <a:spLocks noGrp="1"/>
          </p:cNvSpPr>
          <p:nvPr/>
        </p:nvSpPr>
        <p:spPr>
          <a:xfrm>
            <a:off x="8229600" y="384810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79AFA5-E344-4572-A68F-3AB68A42E29D}"/>
              </a:ext>
            </a:extLst>
          </p:cNvPr>
          <p:cNvSpPr>
            <a:spLocks noGrp="1"/>
          </p:cNvSpPr>
          <p:nvPr/>
        </p:nvSpPr>
        <p:spPr>
          <a:xfrm>
            <a:off x="8229600" y="4096490"/>
            <a:ext cx="23050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Docker MySQL/Redis + Swagger + tests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155EF0-E87E-4544-8CFF-2E1FA435F207}"/>
              </a:ext>
            </a:extLst>
          </p:cNvPr>
          <p:cNvSpPr>
            <a:spLocks noGrp="1"/>
          </p:cNvSpPr>
          <p:nvPr/>
        </p:nvSpPr>
        <p:spPr>
          <a:xfrm>
            <a:off x="647700" y="58102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2026.07.25 기준 작업 브랜치: sunwoo/auth</a:t>
            </a:r>
          </a:p>
        </p:txBody>
      </p:sp>
    </p:spTree>
    <p:extLst>
      <p:ext uri="{BB962C8B-B14F-4D97-AF65-F5344CB8AC3E}">
        <p14:creationId xmlns:p14="http://schemas.microsoft.com/office/powerpoint/2010/main" val="47702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03410-23B8-4504-9857-CCA5F92B6F5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A33A71-3E4A-4C31-BF08-C67707E9A996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현재 시스템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5DDCAD-4248-4038-8E02-3B00EE60CCF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도메인별 구현 범위를 한눈에 보기 위한 코드 기준 맵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66A78191-35DA-405B-BCD3-0A7B75E4B83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11C2184-2517-4333-BD68-762B612A25E8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87E2E2-908E-4448-A3AC-3AA502C60E5F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66675" cy="74295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3097B5-ABCB-45B6-8B7B-FE731424E315}"/>
              </a:ext>
            </a:extLst>
          </p:cNvPr>
          <p:cNvSpPr>
            <a:spLocks noGrp="1"/>
          </p:cNvSpPr>
          <p:nvPr/>
        </p:nvSpPr>
        <p:spPr>
          <a:xfrm>
            <a:off x="914400" y="19812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회원/인증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BC4D00-39F8-410D-9D6D-5731DA181DDB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Kakao OAuth, 자체 JWT, Refresh Token, /me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0E176E7-8261-457E-A995-93DD32261C0C}"/>
              </a:ext>
            </a:extLst>
          </p:cNvPr>
          <p:cNvSpPr>
            <a:spLocks noGrp="1"/>
          </p:cNvSpPr>
          <p:nvPr/>
        </p:nvSpPr>
        <p:spPr>
          <a:xfrm>
            <a:off x="6172200" y="18097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826D57-FCF8-43DD-8FF7-C7E8DBB0D837}"/>
              </a:ext>
            </a:extLst>
          </p:cNvPr>
          <p:cNvSpPr>
            <a:spLocks noGrp="1"/>
          </p:cNvSpPr>
          <p:nvPr/>
        </p:nvSpPr>
        <p:spPr>
          <a:xfrm>
            <a:off x="6172200" y="1809750"/>
            <a:ext cx="66675" cy="7429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E8F4C2-69A7-4EDE-AE59-C34439B8FD97}"/>
              </a:ext>
            </a:extLst>
          </p:cNvPr>
          <p:cNvSpPr>
            <a:spLocks noGrp="1"/>
          </p:cNvSpPr>
          <p:nvPr/>
        </p:nvSpPr>
        <p:spPr>
          <a:xfrm>
            <a:off x="6381750" y="19812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상품/카테고리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E80E4A-9ED0-4601-B069-D81C5A48DB7A}"/>
              </a:ext>
            </a:extLst>
          </p:cNvPr>
          <p:cNvSpPr>
            <a:spLocks noGrp="1"/>
          </p:cNvSpPr>
          <p:nvPr/>
        </p:nvSpPr>
        <p:spPr>
          <a:xfrm>
            <a:off x="6381750" y="23241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상품 CRUD, 목록/상세, 카테고리 계층, 이미지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84B3B3D-3075-4EF4-8469-E16DA7BF74C2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2EF441-910A-4071-93C1-B1857267438F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66675" cy="74295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5A52EB-6B6D-4C7E-A668-993592095552}"/>
              </a:ext>
            </a:extLst>
          </p:cNvPr>
          <p:cNvSpPr>
            <a:spLocks noGrp="1"/>
          </p:cNvSpPr>
          <p:nvPr/>
        </p:nvSpPr>
        <p:spPr>
          <a:xfrm>
            <a:off x="914400" y="29718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재고/이력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5A6B95-5E48-4ECB-8155-9FDFF2C55CC1}"/>
              </a:ext>
            </a:extLst>
          </p:cNvPr>
          <p:cNvSpPr>
            <a:spLocks noGrp="1"/>
          </p:cNvSpPr>
          <p:nvPr/>
        </p:nvSpPr>
        <p:spPr>
          <a:xfrm>
            <a:off x="914400" y="33147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입고, 현재 재고, 예약/확정/복구 이력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F0416FF9-2938-4CD8-9470-670A202F29C9}"/>
              </a:ext>
            </a:extLst>
          </p:cNvPr>
          <p:cNvSpPr>
            <a:spLocks noGrp="1"/>
          </p:cNvSpPr>
          <p:nvPr/>
        </p:nvSpPr>
        <p:spPr>
          <a:xfrm>
            <a:off x="6172200" y="28003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12261A-F9B7-4E40-98D8-98D3D73A7F88}"/>
              </a:ext>
            </a:extLst>
          </p:cNvPr>
          <p:cNvSpPr>
            <a:spLocks noGrp="1"/>
          </p:cNvSpPr>
          <p:nvPr/>
        </p:nvSpPr>
        <p:spPr>
          <a:xfrm>
            <a:off x="6172200" y="2800350"/>
            <a:ext cx="66675" cy="742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E39BBB-7FAA-450B-8F8D-45EC6A06E95C}"/>
              </a:ext>
            </a:extLst>
          </p:cNvPr>
          <p:cNvSpPr>
            <a:spLocks noGrp="1"/>
          </p:cNvSpPr>
          <p:nvPr/>
        </p:nvSpPr>
        <p:spPr>
          <a:xfrm>
            <a:off x="6381750" y="29718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주문/결제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F5AA12-D8B5-4508-99CF-3985AB4C2B09}"/>
              </a:ext>
            </a:extLst>
          </p:cNvPr>
          <p:cNvSpPr>
            <a:spLocks noGrp="1"/>
          </p:cNvSpPr>
          <p:nvPr/>
        </p:nvSpPr>
        <p:spPr>
          <a:xfrm>
            <a:off x="6381750" y="33147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단건 구매, 장바구니 주문, Toss 결제 승인/환불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8DEE922-B8C4-4E24-912C-A596BDE8912A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21AA18-CED0-4210-9BC1-81E8B472C885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66675" cy="74295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694A95-C9B6-4168-AD1F-8A6C014D7B7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장바구니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0C68127-BE78-4B52-AD1D-04224D95D3A8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회원별 장바구니, 캐시, checkout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5246776C-9BE9-47CE-ACDA-4D37375B6AFE}"/>
              </a:ext>
            </a:extLst>
          </p:cNvPr>
          <p:cNvSpPr>
            <a:spLocks noGrp="1"/>
          </p:cNvSpPr>
          <p:nvPr/>
        </p:nvSpPr>
        <p:spPr>
          <a:xfrm>
            <a:off x="6172200" y="37909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8CB084-79D6-44B2-8CDF-DEB904F261BA}"/>
              </a:ext>
            </a:extLst>
          </p:cNvPr>
          <p:cNvSpPr>
            <a:spLocks noGrp="1"/>
          </p:cNvSpPr>
          <p:nvPr/>
        </p:nvSpPr>
        <p:spPr>
          <a:xfrm>
            <a:off x="6172200" y="3790950"/>
            <a:ext cx="66675" cy="7429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362E14-52CF-4DAA-987F-E1C07092A45E}"/>
              </a:ext>
            </a:extLst>
          </p:cNvPr>
          <p:cNvSpPr>
            <a:spLocks noGrp="1"/>
          </p:cNvSpPr>
          <p:nvPr/>
        </p:nvSpPr>
        <p:spPr>
          <a:xfrm>
            <a:off x="6381750" y="39624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쿠폰/이벤트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167762B-01B6-439F-876F-FCDC5B82C712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쿠폰 발급/조회, 선착순 이벤트 참여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F39D590B-5DC7-4140-812B-5E9269EA4ECD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040D70-20C6-4B81-B789-36C72ADAC2C3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66675" cy="74295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D3448F-EB36-4450-8808-9E3D149A4567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리뷰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4C4EE22-B126-4461-8F5A-10D2E3507D26}"/>
              </a:ext>
            </a:extLst>
          </p:cNvPr>
          <p:cNvSpPr>
            <a:spLocks noGrp="1"/>
          </p:cNvSpPr>
          <p:nvPr/>
        </p:nvSpPr>
        <p:spPr>
          <a:xfrm>
            <a:off x="914400" y="52959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상품 리뷰 생성/조회/수정/삭제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4E8F2BCD-35AB-472F-9AC1-F61D484F3FAA}"/>
              </a:ext>
            </a:extLst>
          </p:cNvPr>
          <p:cNvSpPr>
            <a:spLocks noGrp="1"/>
          </p:cNvSpPr>
          <p:nvPr/>
        </p:nvSpPr>
        <p:spPr>
          <a:xfrm>
            <a:off x="6172200" y="478155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D97A919-DDC2-4E80-9B5D-40EC3062412F}"/>
              </a:ext>
            </a:extLst>
          </p:cNvPr>
          <p:cNvSpPr>
            <a:spLocks noGrp="1"/>
          </p:cNvSpPr>
          <p:nvPr/>
        </p:nvSpPr>
        <p:spPr>
          <a:xfrm>
            <a:off x="6172200" y="4781550"/>
            <a:ext cx="66675" cy="742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21C076-A643-41A4-A682-0C2F82B8F4C4}"/>
              </a:ext>
            </a:extLst>
          </p:cNvPr>
          <p:cNvSpPr>
            <a:spLocks noGrp="1"/>
          </p:cNvSpPr>
          <p:nvPr/>
        </p:nvSpPr>
        <p:spPr>
          <a:xfrm>
            <a:off x="6381750" y="4953000"/>
            <a:ext cx="459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공통/운영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0A49F96-CC3D-454E-964C-B8ACA2473509}"/>
              </a:ext>
            </a:extLst>
          </p:cNvPr>
          <p:cNvSpPr>
            <a:spLocks noGrp="1"/>
          </p:cNvSpPr>
          <p:nvPr/>
        </p:nvSpPr>
        <p:spPr>
          <a:xfrm>
            <a:off x="6381750" y="5295900"/>
            <a:ext cx="459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Swagger, 공통 응답, Security, Docker MySQL/Redis</a:t>
            </a:r>
          </a:p>
        </p:txBody>
      </p:sp>
    </p:spTree>
    <p:extLst>
      <p:ext uri="{BB962C8B-B14F-4D97-AF65-F5344CB8AC3E}">
        <p14:creationId xmlns:p14="http://schemas.microsoft.com/office/powerpoint/2010/main" val="45772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4F1C09-7A73-4719-85BE-21889B97433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6C0386-9A2B-4A64-AFEB-87457AF897C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사용자 흐름 기준으로 본 기능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6339FF-6327-478F-BBB4-E19F69A078F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현재 프론트/백엔드가 실제 서비스처럼 연결되는 핵심 경로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02BB0DD4-E23C-45BB-87BA-6C63E747A545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F9FC1BB-32F8-43A7-9AB8-D7FC37D57416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1638300" cy="1695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F63A49-28E2-4B0D-A218-6800ABCD54A4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C08A2C"/>
                </a:solidFill>
              </a:defRPr>
            </a:pPr>
            <a:r>
              <a:rPr sz="2400" b="1">
                <a:solidFill>
                  <a:srgbClr val="C08A2C"/>
                </a:solidFill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1AD067-5EFC-4139-8D33-60037AB3A0BF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상품 탐색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906413-F1BD-4DC7-B993-F0A27EE0A6FC}"/>
              </a:ext>
            </a:extLst>
          </p:cNvPr>
          <p:cNvSpPr>
            <a:spLocks noGrp="1"/>
          </p:cNvSpPr>
          <p:nvPr/>
        </p:nvSpPr>
        <p:spPr>
          <a:xfrm>
            <a:off x="895350" y="3295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4B5563"/>
                </a:solidFill>
              </a:defRPr>
            </a:pPr>
            <a:r>
              <a:rPr sz="975">
                <a:solidFill>
                  <a:srgbClr val="4B5563"/>
                </a:solidFill>
              </a:rPr>
              <a:t>상품 목록/상세, 카테고리, 재고 조회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B2EFC2A6-FE11-4C2F-ADF6-45EB30970CFB}"/>
              </a:ext>
            </a:extLst>
          </p:cNvPr>
          <p:cNvSpPr>
            <a:spLocks noGrp="1"/>
          </p:cNvSpPr>
          <p:nvPr/>
        </p:nvSpPr>
        <p:spPr>
          <a:xfrm>
            <a:off x="2438400" y="2990850"/>
            <a:ext cx="400050" cy="0"/>
          </a:xfrm>
          <a:prstGeom prst="line">
            <a:avLst/>
          </a:prstGeom>
          <a:ln w="19050">
            <a:solidFill>
              <a:srgbClr val="C08A2C"/>
            </a:solidFill>
            <a:prstDash val="solid"/>
          </a:ln>
        </p:spPr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C053AE1-2529-423A-8386-A7AB0276F8B3}"/>
              </a:ext>
            </a:extLst>
          </p:cNvPr>
          <p:cNvSpPr>
            <a:spLocks noGrp="1"/>
          </p:cNvSpPr>
          <p:nvPr/>
        </p:nvSpPr>
        <p:spPr>
          <a:xfrm>
            <a:off x="2857500" y="2152650"/>
            <a:ext cx="1638300" cy="1695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B1628A-1FBB-452C-B66C-2B56F46D61D2}"/>
              </a:ext>
            </a:extLst>
          </p:cNvPr>
          <p:cNvSpPr>
            <a:spLocks noGrp="1"/>
          </p:cNvSpPr>
          <p:nvPr/>
        </p:nvSpPr>
        <p:spPr>
          <a:xfrm>
            <a:off x="3028950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C08A2C"/>
                </a:solidFill>
              </a:defRPr>
            </a:pPr>
            <a:r>
              <a:rPr sz="2400" b="1">
                <a:solidFill>
                  <a:srgbClr val="C08A2C"/>
                </a:solidFill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905B57-47BA-4EA6-9689-EF0DFAA43E98}"/>
              </a:ext>
            </a:extLst>
          </p:cNvPr>
          <p:cNvSpPr>
            <a:spLocks noGrp="1"/>
          </p:cNvSpPr>
          <p:nvPr/>
        </p:nvSpPr>
        <p:spPr>
          <a:xfrm>
            <a:off x="3048000" y="28956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25C026-0840-4537-BC1C-89FED4F4BCEA}"/>
              </a:ext>
            </a:extLst>
          </p:cNvPr>
          <p:cNvSpPr>
            <a:spLocks noGrp="1"/>
          </p:cNvSpPr>
          <p:nvPr/>
        </p:nvSpPr>
        <p:spPr>
          <a:xfrm>
            <a:off x="3028950" y="3295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4B5563"/>
                </a:solidFill>
              </a:defRPr>
            </a:pPr>
            <a:r>
              <a:rPr sz="975">
                <a:solidFill>
                  <a:srgbClr val="4B5563"/>
                </a:solidFill>
              </a:rPr>
              <a:t>카카오 OAuth URL -&gt; callback/login -&gt; JWT 발급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8C4CC54-95CA-490A-BED5-9001462150E8}"/>
              </a:ext>
            </a:extLst>
          </p:cNvPr>
          <p:cNvSpPr>
            <a:spLocks noGrp="1"/>
          </p:cNvSpPr>
          <p:nvPr/>
        </p:nvSpPr>
        <p:spPr>
          <a:xfrm>
            <a:off x="4572000" y="2990850"/>
            <a:ext cx="400050" cy="0"/>
          </a:xfrm>
          <a:prstGeom prst="line">
            <a:avLst/>
          </a:prstGeom>
          <a:ln w="19050">
            <a:solidFill>
              <a:srgbClr val="C08A2C"/>
            </a:solidFill>
            <a:prstDash val="solid"/>
          </a:ln>
        </p:spPr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9108165-1A4E-442A-8570-687CC2FFA8EB}"/>
              </a:ext>
            </a:extLst>
          </p:cNvPr>
          <p:cNvSpPr>
            <a:spLocks noGrp="1"/>
          </p:cNvSpPr>
          <p:nvPr/>
        </p:nvSpPr>
        <p:spPr>
          <a:xfrm>
            <a:off x="4991100" y="2152650"/>
            <a:ext cx="1638300" cy="1695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DB8F89-4A35-4BE8-9DDC-B24813930D80}"/>
              </a:ext>
            </a:extLst>
          </p:cNvPr>
          <p:cNvSpPr>
            <a:spLocks noGrp="1"/>
          </p:cNvSpPr>
          <p:nvPr/>
        </p:nvSpPr>
        <p:spPr>
          <a:xfrm>
            <a:off x="5162550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C08A2C"/>
                </a:solidFill>
              </a:defRPr>
            </a:pPr>
            <a:r>
              <a:rPr sz="2400" b="1">
                <a:solidFill>
                  <a:srgbClr val="C08A2C"/>
                </a:solidFill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BCE1E53-2239-4AD3-A12C-570D4A0E98B6}"/>
              </a:ext>
            </a:extLst>
          </p:cNvPr>
          <p:cNvSpPr>
            <a:spLocks noGrp="1"/>
          </p:cNvSpPr>
          <p:nvPr/>
        </p:nvSpPr>
        <p:spPr>
          <a:xfrm>
            <a:off x="5181600" y="28956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담기/구매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3E30DB-3195-4CF3-9CDD-1BFFB57ED959}"/>
              </a:ext>
            </a:extLst>
          </p:cNvPr>
          <p:cNvSpPr>
            <a:spLocks noGrp="1"/>
          </p:cNvSpPr>
          <p:nvPr/>
        </p:nvSpPr>
        <p:spPr>
          <a:xfrm>
            <a:off x="5076825" y="3305175"/>
            <a:ext cx="146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4B5563"/>
                </a:solidFill>
              </a:defRPr>
            </a:pPr>
            <a:r>
              <a:rPr sz="975" dirty="0" err="1">
                <a:solidFill>
                  <a:srgbClr val="4B5563"/>
                </a:solidFill>
              </a:rPr>
              <a:t>장바구니</a:t>
            </a:r>
            <a:r>
              <a:rPr sz="975" dirty="0">
                <a:solidFill>
                  <a:srgbClr val="4B5563"/>
                </a:solidFill>
              </a:rPr>
              <a:t> </a:t>
            </a:r>
            <a:r>
              <a:rPr sz="975" dirty="0" err="1">
                <a:solidFill>
                  <a:srgbClr val="4B5563"/>
                </a:solidFill>
              </a:rPr>
              <a:t>또는</a:t>
            </a:r>
            <a:r>
              <a:rPr sz="975" dirty="0">
                <a:solidFill>
                  <a:srgbClr val="4B5563"/>
                </a:solidFill>
              </a:rPr>
              <a:t> </a:t>
            </a:r>
            <a:r>
              <a:rPr sz="975" dirty="0" err="1">
                <a:solidFill>
                  <a:srgbClr val="4B5563"/>
                </a:solidFill>
              </a:rPr>
              <a:t>상품</a:t>
            </a:r>
            <a:r>
              <a:rPr sz="975" dirty="0">
                <a:solidFill>
                  <a:srgbClr val="4B5563"/>
                </a:solidFill>
              </a:rPr>
              <a:t> </a:t>
            </a:r>
            <a:endParaRPr lang="en-US" sz="975" dirty="0" smtClean="0">
              <a:solidFill>
                <a:srgbClr val="4B5563"/>
              </a:solidFill>
            </a:endParaRPr>
          </a:p>
          <a:p>
            <a:pPr>
              <a:buNone/>
              <a:defRPr sz="975">
                <a:solidFill>
                  <a:srgbClr val="4B5563"/>
                </a:solidFill>
              </a:defRPr>
            </a:pPr>
            <a:r>
              <a:rPr sz="975" dirty="0" err="1" smtClean="0">
                <a:solidFill>
                  <a:srgbClr val="4B5563"/>
                </a:solidFill>
              </a:rPr>
              <a:t>단건</a:t>
            </a:r>
            <a:r>
              <a:rPr sz="975" dirty="0" smtClean="0">
                <a:solidFill>
                  <a:srgbClr val="4B5563"/>
                </a:solidFill>
              </a:rPr>
              <a:t> </a:t>
            </a:r>
            <a:r>
              <a:rPr sz="975" dirty="0" err="1">
                <a:solidFill>
                  <a:srgbClr val="4B5563"/>
                </a:solidFill>
              </a:rPr>
              <a:t>구매로</a:t>
            </a:r>
            <a:r>
              <a:rPr sz="975" dirty="0">
                <a:solidFill>
                  <a:srgbClr val="4B5563"/>
                </a:solidFill>
              </a:rPr>
              <a:t> </a:t>
            </a:r>
            <a:r>
              <a:rPr sz="975" dirty="0" err="1">
                <a:solidFill>
                  <a:srgbClr val="4B5563"/>
                </a:solidFill>
              </a:rPr>
              <a:t>주문</a:t>
            </a:r>
            <a:r>
              <a:rPr sz="975" dirty="0">
                <a:solidFill>
                  <a:srgbClr val="4B5563"/>
                </a:solidFill>
              </a:rPr>
              <a:t> </a:t>
            </a:r>
            <a:r>
              <a:rPr sz="975" dirty="0" err="1">
                <a:solidFill>
                  <a:srgbClr val="4B5563"/>
                </a:solidFill>
              </a:rPr>
              <a:t>생성</a:t>
            </a:r>
            <a:endParaRPr sz="975" dirty="0">
              <a:solidFill>
                <a:srgbClr val="4B5563"/>
              </a:solidFill>
            </a:endParaRP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416FFEA8-C626-4412-B0FF-E58DD59E381C}"/>
              </a:ext>
            </a:extLst>
          </p:cNvPr>
          <p:cNvSpPr>
            <a:spLocks noGrp="1"/>
          </p:cNvSpPr>
          <p:nvPr/>
        </p:nvSpPr>
        <p:spPr>
          <a:xfrm>
            <a:off x="6705600" y="2990850"/>
            <a:ext cx="400050" cy="0"/>
          </a:xfrm>
          <a:prstGeom prst="line">
            <a:avLst/>
          </a:prstGeom>
          <a:ln w="19050">
            <a:solidFill>
              <a:srgbClr val="C08A2C"/>
            </a:solidFill>
            <a:prstDash val="solid"/>
          </a:ln>
        </p:spPr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10DFFC8-3104-4073-8CEF-73E58BFE04A8}"/>
              </a:ext>
            </a:extLst>
          </p:cNvPr>
          <p:cNvSpPr>
            <a:spLocks noGrp="1"/>
          </p:cNvSpPr>
          <p:nvPr/>
        </p:nvSpPr>
        <p:spPr>
          <a:xfrm>
            <a:off x="7124700" y="2152650"/>
            <a:ext cx="1638300" cy="1695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0209F7-3719-40E8-ABB1-86947CF48B22}"/>
              </a:ext>
            </a:extLst>
          </p:cNvPr>
          <p:cNvSpPr>
            <a:spLocks noGrp="1"/>
          </p:cNvSpPr>
          <p:nvPr/>
        </p:nvSpPr>
        <p:spPr>
          <a:xfrm>
            <a:off x="7296150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C08A2C"/>
                </a:solidFill>
              </a:defRPr>
            </a:pPr>
            <a:r>
              <a:rPr sz="2400" b="1">
                <a:solidFill>
                  <a:srgbClr val="C08A2C"/>
                </a:solidFill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BAF9C0-E90F-4A6A-962B-FA5B47605FC7}"/>
              </a:ext>
            </a:extLst>
          </p:cNvPr>
          <p:cNvSpPr>
            <a:spLocks noGrp="1"/>
          </p:cNvSpPr>
          <p:nvPr/>
        </p:nvSpPr>
        <p:spPr>
          <a:xfrm>
            <a:off x="7315200" y="28956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결제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47B262B-0F3A-4C58-B9A9-B8A140D602F3}"/>
              </a:ext>
            </a:extLst>
          </p:cNvPr>
          <p:cNvSpPr>
            <a:spLocks noGrp="1"/>
          </p:cNvSpPr>
          <p:nvPr/>
        </p:nvSpPr>
        <p:spPr>
          <a:xfrm>
            <a:off x="7296150" y="3295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4B5563"/>
                </a:solidFill>
              </a:defRPr>
            </a:pPr>
            <a:r>
              <a:rPr sz="975">
                <a:solidFill>
                  <a:srgbClr val="4B5563"/>
                </a:solidFill>
              </a:rPr>
              <a:t>Toss 결제 승인 후 예약 재고 확정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AE04246-264C-490F-A8AE-04471A6CC38D}"/>
              </a:ext>
            </a:extLst>
          </p:cNvPr>
          <p:cNvSpPr>
            <a:spLocks noGrp="1"/>
          </p:cNvSpPr>
          <p:nvPr/>
        </p:nvSpPr>
        <p:spPr>
          <a:xfrm>
            <a:off x="8839200" y="2990850"/>
            <a:ext cx="400050" cy="0"/>
          </a:xfrm>
          <a:prstGeom prst="line">
            <a:avLst/>
          </a:prstGeom>
          <a:ln w="19050">
            <a:solidFill>
              <a:srgbClr val="C08A2C"/>
            </a:solidFill>
            <a:prstDash val="solid"/>
          </a:ln>
        </p:spPr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89100DC-03DB-4117-B1DE-9A8F46FA9BC6}"/>
              </a:ext>
            </a:extLst>
          </p:cNvPr>
          <p:cNvSpPr>
            <a:spLocks noGrp="1"/>
          </p:cNvSpPr>
          <p:nvPr/>
        </p:nvSpPr>
        <p:spPr>
          <a:xfrm>
            <a:off x="9258300" y="2152650"/>
            <a:ext cx="1638300" cy="1695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8071A6F-BA72-40C4-9417-4A84DF4C024B}"/>
              </a:ext>
            </a:extLst>
          </p:cNvPr>
          <p:cNvSpPr>
            <a:spLocks noGrp="1"/>
          </p:cNvSpPr>
          <p:nvPr/>
        </p:nvSpPr>
        <p:spPr>
          <a:xfrm>
            <a:off x="9429750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C08A2C"/>
                </a:solidFill>
              </a:defRPr>
            </a:pPr>
            <a:r>
              <a:rPr sz="2400" b="1">
                <a:solidFill>
                  <a:srgbClr val="C08A2C"/>
                </a:solidFill>
              </a:rPr>
              <a:t>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30956C5-E94E-4094-91E3-83832F2CD552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사후 처리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23857E-BC4B-4390-AC52-37531364F54E}"/>
              </a:ext>
            </a:extLst>
          </p:cNvPr>
          <p:cNvSpPr>
            <a:spLocks noGrp="1"/>
          </p:cNvSpPr>
          <p:nvPr/>
        </p:nvSpPr>
        <p:spPr>
          <a:xfrm>
            <a:off x="9429750" y="3295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4B5563"/>
                </a:solidFill>
              </a:defRPr>
            </a:pPr>
            <a:r>
              <a:rPr sz="975">
                <a:solidFill>
                  <a:srgbClr val="4B5563"/>
                </a:solidFill>
              </a:rPr>
              <a:t>주문 조회, 환불/취소, 리뷰 작성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C57D0585-132D-48D1-A854-7ADE3F735AC3}"/>
              </a:ext>
            </a:extLst>
          </p:cNvPr>
          <p:cNvSpPr>
            <a:spLocks noGrp="1"/>
          </p:cNvSpPr>
          <p:nvPr/>
        </p:nvSpPr>
        <p:spPr>
          <a:xfrm>
            <a:off x="1581150" y="4591050"/>
            <a:ext cx="9048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F328F1E-740C-495E-B259-C12653C2DACD}"/>
              </a:ext>
            </a:extLst>
          </p:cNvPr>
          <p:cNvSpPr>
            <a:spLocks noGrp="1"/>
          </p:cNvSpPr>
          <p:nvPr/>
        </p:nvSpPr>
        <p:spPr>
          <a:xfrm>
            <a:off x="1581150" y="4591050"/>
            <a:ext cx="66675" cy="83820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7225377-D286-4804-B0AF-F5A06C7010EC}"/>
              </a:ext>
            </a:extLst>
          </p:cNvPr>
          <p:cNvSpPr>
            <a:spLocks noGrp="1"/>
          </p:cNvSpPr>
          <p:nvPr/>
        </p:nvSpPr>
        <p:spPr>
          <a:xfrm>
            <a:off x="1790700" y="4762500"/>
            <a:ext cx="868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궁금한 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D38AA9-B9F1-4776-8ACB-C0438A19A9BD}"/>
              </a:ext>
            </a:extLst>
          </p:cNvPr>
          <p:cNvSpPr>
            <a:spLocks noGrp="1"/>
          </p:cNvSpPr>
          <p:nvPr/>
        </p:nvSpPr>
        <p:spPr>
          <a:xfrm>
            <a:off x="1790700" y="5105400"/>
            <a:ext cx="868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결제 성공/실패, 주문 취소, 환불, 장바구니 checkout이 모두 같은 재고 예약/확정/복구 규칙을 공유하는지 점검이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049753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828DA2-FE33-4EA0-A542-6C892561430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EE2781-0AE5-4EC8-8BFE-ED31015BBD5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인증/인가 구현 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2B2CD1-ADEC-4944-9970-12EEF1EA7CB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Kakao OAuth와 자체 JWT를 붙였고, API별 접근 경계가 생긴 상태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B33D202B-9C02-48D9-A54C-1639AD3E88EC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F609A50-6310-434A-9B31-101BB9F3815D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1C053B-8F0E-4399-931B-5D84E30782B4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66675" cy="142875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DDF0B9-BF0B-4CF5-AC0A-698B4D893F0C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OAuth Login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043C1D-E710-431A-B97D-8B54D1510AD4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28765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인가 URL 발급 시 state와 HttpOnly nonce 쿠키를 사용하고, callback/login에서 state와 nonce를 검증합니다.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0BA0F6B-3B55-4E14-94E7-96F8F8F0EC28}"/>
              </a:ext>
            </a:extLst>
          </p:cNvPr>
          <p:cNvSpPr>
            <a:spLocks noGrp="1"/>
          </p:cNvSpPr>
          <p:nvPr/>
        </p:nvSpPr>
        <p:spPr>
          <a:xfrm>
            <a:off x="4476750" y="186690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4C1AF-90A6-4EAD-A559-1BBB6232EE17}"/>
              </a:ext>
            </a:extLst>
          </p:cNvPr>
          <p:cNvSpPr>
            <a:spLocks noGrp="1"/>
          </p:cNvSpPr>
          <p:nvPr/>
        </p:nvSpPr>
        <p:spPr>
          <a:xfrm>
            <a:off x="4476750" y="1866900"/>
            <a:ext cx="66675" cy="14287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9F21C4-6771-4A08-8FFD-7A41B29308C7}"/>
              </a:ext>
            </a:extLst>
          </p:cNvPr>
          <p:cNvSpPr>
            <a:spLocks noGrp="1"/>
          </p:cNvSpPr>
          <p:nvPr/>
        </p:nvSpPr>
        <p:spPr>
          <a:xfrm>
            <a:off x="4686300" y="203835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JWT Authentication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0FAF9F-568E-491E-9C60-BDD05B73DA2C}"/>
              </a:ext>
            </a:extLst>
          </p:cNvPr>
          <p:cNvSpPr>
            <a:spLocks noGrp="1"/>
          </p:cNvSpPr>
          <p:nvPr/>
        </p:nvSpPr>
        <p:spPr>
          <a:xfrm>
            <a:off x="4686300" y="2381250"/>
            <a:ext cx="28765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JwtAuthenticationFilter가 Bearer 토큰을 검증하고 AuthMember(memberId, role)를 SecurityContext에 넣습니다.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C85C9DA-24D4-4853-86D7-3D2AF5F3229B}"/>
              </a:ext>
            </a:extLst>
          </p:cNvPr>
          <p:cNvSpPr>
            <a:spLocks noGrp="1"/>
          </p:cNvSpPr>
          <p:nvPr/>
        </p:nvSpPr>
        <p:spPr>
          <a:xfrm>
            <a:off x="8229600" y="186690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05C798-89E4-4E1E-AD02-C5FE7B19B417}"/>
              </a:ext>
            </a:extLst>
          </p:cNvPr>
          <p:cNvSpPr>
            <a:spLocks noGrp="1"/>
          </p:cNvSpPr>
          <p:nvPr/>
        </p:nvSpPr>
        <p:spPr>
          <a:xfrm>
            <a:off x="8229600" y="1866900"/>
            <a:ext cx="66675" cy="142875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AD65A4-7446-4F14-96BD-84A0568AB8C0}"/>
              </a:ext>
            </a:extLst>
          </p:cNvPr>
          <p:cNvSpPr>
            <a:spLocks noGrp="1"/>
          </p:cNvSpPr>
          <p:nvPr/>
        </p:nvSpPr>
        <p:spPr>
          <a:xfrm>
            <a:off x="8439150" y="203835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API Locking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11AEDE-2EDE-4D5A-99FA-1562B4CFD974}"/>
              </a:ext>
            </a:extLst>
          </p:cNvPr>
          <p:cNvSpPr>
            <a:spLocks noGrp="1"/>
          </p:cNvSpPr>
          <p:nvPr/>
        </p:nvSpPr>
        <p:spPr>
          <a:xfrm>
            <a:off x="8439150" y="2381250"/>
            <a:ext cx="28765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회원/장바구니/주문/구매/리뷰 쓰기, 일부 관리자 API가 SecurityConfig에서 제한됩니다.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529F0F-CA43-4CDB-AC0C-1511CB8519D1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남은 판단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CD14AFC-7412-4204-BE43-86175B4070F5}"/>
              </a:ext>
            </a:extLst>
          </p:cNvPr>
          <p:cNvSpPr>
            <a:spLocks noGrp="1"/>
          </p:cNvSpPr>
          <p:nvPr/>
        </p:nvSpPr>
        <p:spPr>
          <a:xfrm>
            <a:off x="838200" y="441007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5E5872-AD50-4500-80E6-B4D8DBB967B7}"/>
              </a:ext>
            </a:extLst>
          </p:cNvPr>
          <p:cNvSpPr>
            <a:spLocks noGrp="1"/>
          </p:cNvSpPr>
          <p:nvPr/>
        </p:nvSpPr>
        <p:spPr>
          <a:xfrm>
            <a:off x="1009650" y="4324350"/>
            <a:ext cx="992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카카오 callback API를 프론트 분리 후 계속 유지할지, BFF 성격으로 둘지 결정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F941D9F-4C88-4376-BED9-6AD85BE1EF6D}"/>
              </a:ext>
            </a:extLst>
          </p:cNvPr>
          <p:cNvSpPr>
            <a:spLocks noGrp="1"/>
          </p:cNvSpPr>
          <p:nvPr/>
        </p:nvSpPr>
        <p:spPr>
          <a:xfrm>
            <a:off x="838200" y="477202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52DF3D2-8E1D-4583-9B67-0DECE3370364}"/>
              </a:ext>
            </a:extLst>
          </p:cNvPr>
          <p:cNvSpPr>
            <a:spLocks noGrp="1"/>
          </p:cNvSpPr>
          <p:nvPr/>
        </p:nvSpPr>
        <p:spPr>
          <a:xfrm>
            <a:off x="1009650" y="4686300"/>
            <a:ext cx="992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ADMIN 역할 부여/관리 방식과 운영 중 권한 변경 정책 필요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88A9064-F338-41D5-8383-4FE1DD853250}"/>
              </a:ext>
            </a:extLst>
          </p:cNvPr>
          <p:cNvSpPr>
            <a:spLocks noGrp="1"/>
          </p:cNvSpPr>
          <p:nvPr/>
        </p:nvSpPr>
        <p:spPr>
          <a:xfrm>
            <a:off x="838200" y="513397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170697-60FC-4BCA-8BCE-5DF275DFD460}"/>
              </a:ext>
            </a:extLst>
          </p:cNvPr>
          <p:cNvSpPr>
            <a:spLocks noGrp="1"/>
          </p:cNvSpPr>
          <p:nvPr/>
        </p:nvSpPr>
        <p:spPr>
          <a:xfrm>
            <a:off x="1009650" y="5048250"/>
            <a:ext cx="992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access token 만료 이후 UX: refresh token 저장 위치와 재발급 흐름 확정</a:t>
            </a:r>
          </a:p>
        </p:txBody>
      </p:sp>
    </p:spTree>
    <p:extLst>
      <p:ext uri="{BB962C8B-B14F-4D97-AF65-F5344CB8AC3E}">
        <p14:creationId xmlns:p14="http://schemas.microsoft.com/office/powerpoint/2010/main" val="175986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D9A219-5FFC-4AD2-837D-7245DEE7E7A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3719A3-6357-4438-A856-7BFB4DBC0B1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주문/결제/재고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9ED851-9080-4D03-8DEA-E8728F28EDA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구매 시 재고를 예약하고, 결제 승인 또는 취소/환불에서 상태를 확정하는 구조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EEAA56D4-079C-45DD-9F87-20F587D9B67E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6A60DD2-8EF3-431B-92ED-8F4FA41CF010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3241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1B4FBF-F3BA-4BD1-8D84-86CE63A148F6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66675" cy="175260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8421FF-F222-4CE6-B4C3-E00A8509BF21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구매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5FDE88-0E8F-4FF6-8C38-7A2A0516A883}"/>
              </a:ext>
            </a:extLst>
          </p:cNvPr>
          <p:cNvSpPr>
            <a:spLocks noGrp="1"/>
          </p:cNvSpPr>
          <p:nvPr/>
        </p:nvSpPr>
        <p:spPr>
          <a:xfrm>
            <a:off x="990600" y="2438400"/>
            <a:ext cx="1962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상품 존재 확인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재고 비관적 락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stock.reserve(quantity)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65C85BB7-FADB-4CB7-A2DC-0CCB0148AD40}"/>
              </a:ext>
            </a:extLst>
          </p:cNvPr>
          <p:cNvSpPr>
            <a:spLocks noGrp="1"/>
          </p:cNvSpPr>
          <p:nvPr/>
        </p:nvSpPr>
        <p:spPr>
          <a:xfrm>
            <a:off x="3162300" y="2762250"/>
            <a:ext cx="381000" cy="0"/>
          </a:xfrm>
          <a:prstGeom prst="line">
            <a:avLst/>
          </a:prstGeom>
          <a:ln w="19050">
            <a:solidFill>
              <a:srgbClr val="123B52"/>
            </a:solidFill>
            <a:prstDash val="solid"/>
          </a:ln>
        </p:spPr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2A6BFC4-7586-4399-8D6D-7F0514277472}"/>
              </a:ext>
            </a:extLst>
          </p:cNvPr>
          <p:cNvSpPr>
            <a:spLocks noGrp="1"/>
          </p:cNvSpPr>
          <p:nvPr/>
        </p:nvSpPr>
        <p:spPr>
          <a:xfrm>
            <a:off x="3562350" y="1924050"/>
            <a:ext cx="23241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D35A88-BA47-4585-B79F-DF9A656CF69D}"/>
              </a:ext>
            </a:extLst>
          </p:cNvPr>
          <p:cNvSpPr>
            <a:spLocks noGrp="1"/>
          </p:cNvSpPr>
          <p:nvPr/>
        </p:nvSpPr>
        <p:spPr>
          <a:xfrm>
            <a:off x="3562350" y="1924050"/>
            <a:ext cx="66675" cy="17526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5D63D8-9BB9-4CE5-9639-86FC35C35888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주문 생성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4AC67D-4E6F-4DAB-9EF6-07639744A39F}"/>
              </a:ext>
            </a:extLst>
          </p:cNvPr>
          <p:cNvSpPr>
            <a:spLocks noGrp="1"/>
          </p:cNvSpPr>
          <p:nvPr/>
        </p:nvSpPr>
        <p:spPr>
          <a:xfrm>
            <a:off x="3771900" y="2438400"/>
            <a:ext cx="1962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Order PENDING_PAYMENT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OrderItem 저장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StockHistory PURCHASE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F05821B-EE19-4CD8-B7D8-3D72E675BFAA}"/>
              </a:ext>
            </a:extLst>
          </p:cNvPr>
          <p:cNvSpPr>
            <a:spLocks noGrp="1"/>
          </p:cNvSpPr>
          <p:nvPr/>
        </p:nvSpPr>
        <p:spPr>
          <a:xfrm>
            <a:off x="5943600" y="2762250"/>
            <a:ext cx="381000" cy="0"/>
          </a:xfrm>
          <a:prstGeom prst="line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FAF6C0C-F496-4002-BAB3-C9F7C2883E4C}"/>
              </a:ext>
            </a:extLst>
          </p:cNvPr>
          <p:cNvSpPr>
            <a:spLocks noGrp="1"/>
          </p:cNvSpPr>
          <p:nvPr/>
        </p:nvSpPr>
        <p:spPr>
          <a:xfrm>
            <a:off x="6343650" y="1924050"/>
            <a:ext cx="23241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B2FC84-FF81-4103-8883-BDA44E95D0D0}"/>
              </a:ext>
            </a:extLst>
          </p:cNvPr>
          <p:cNvSpPr>
            <a:spLocks noGrp="1"/>
          </p:cNvSpPr>
          <p:nvPr/>
        </p:nvSpPr>
        <p:spPr>
          <a:xfrm>
            <a:off x="6343650" y="1924050"/>
            <a:ext cx="66675" cy="175260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816F10-D3BC-4D97-BE50-399572FEACF4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결제 승인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C15955-707D-49AF-A7E8-6B490D08E573}"/>
              </a:ext>
            </a:extLst>
          </p:cNvPr>
          <p:cNvSpPr>
            <a:spLocks noGrp="1"/>
          </p:cNvSpPr>
          <p:nvPr/>
        </p:nvSpPr>
        <p:spPr>
          <a:xfrm>
            <a:off x="6553200" y="2438400"/>
            <a:ext cx="1962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Toss confirm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reserved -&gt; actual decrease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Order COMPLETED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F4CF774E-A603-499F-B1D9-7A3EBF7BC8D6}"/>
              </a:ext>
            </a:extLst>
          </p:cNvPr>
          <p:cNvSpPr>
            <a:spLocks noGrp="1"/>
          </p:cNvSpPr>
          <p:nvPr/>
        </p:nvSpPr>
        <p:spPr>
          <a:xfrm>
            <a:off x="8724900" y="2762250"/>
            <a:ext cx="381000" cy="0"/>
          </a:xfrm>
          <a:prstGeom prst="line">
            <a:avLst/>
          </a:prstGeom>
          <a:ln w="19050">
            <a:solidFill>
              <a:srgbClr val="C08A2C"/>
            </a:solidFill>
            <a:prstDash val="solid"/>
          </a:ln>
        </p:spPr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457513D6-35D2-4AD9-BA6A-305F01846FBE}"/>
              </a:ext>
            </a:extLst>
          </p:cNvPr>
          <p:cNvSpPr>
            <a:spLocks noGrp="1"/>
          </p:cNvSpPr>
          <p:nvPr/>
        </p:nvSpPr>
        <p:spPr>
          <a:xfrm>
            <a:off x="9124950" y="1924050"/>
            <a:ext cx="23241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D5AB3B-B4A5-490E-B00C-8ADB80209F77}"/>
              </a:ext>
            </a:extLst>
          </p:cNvPr>
          <p:cNvSpPr>
            <a:spLocks noGrp="1"/>
          </p:cNvSpPr>
          <p:nvPr/>
        </p:nvSpPr>
        <p:spPr>
          <a:xfrm>
            <a:off x="9124950" y="1924050"/>
            <a:ext cx="66675" cy="175260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8BDDC-5DD9-4D18-AD34-6EF4A267839A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취소/환불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9517B1-D0DC-4AA1-8EAF-12AC6ECB4DEC}"/>
              </a:ext>
            </a:extLst>
          </p:cNvPr>
          <p:cNvSpPr>
            <a:spLocks noGrp="1"/>
          </p:cNvSpPr>
          <p:nvPr/>
        </p:nvSpPr>
        <p:spPr>
          <a:xfrm>
            <a:off x="9334500" y="2438400"/>
            <a:ext cx="1962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예약 해제 또는 재고 복구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StockHistory RESTORE</a:t>
            </a:r>
          </a:p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Order CANCELED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DFB21BD-ECC6-40A0-8BFA-EA973EFA4647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94869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ED8BC2-4381-4A78-8C99-B3A50BEF7388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66675" cy="8953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03E99F4-D752-4A0F-AA5D-37431916BFE5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912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질문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9FF5C01-DA66-4805-B915-88B5F7A0E13F}"/>
              </a:ext>
            </a:extLst>
          </p:cNvPr>
          <p:cNvSpPr>
            <a:spLocks noGrp="1"/>
          </p:cNvSpPr>
          <p:nvPr/>
        </p:nvSpPr>
        <p:spPr>
          <a:xfrm>
            <a:off x="1562100" y="4838700"/>
            <a:ext cx="912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PENDING_PAYMENT 상태 주문이 오래 남는 경우 자동 만료/예약 재고 해제 정책이 필요합니다. 현재 구조에서는 이 지점이 운영 리스크가 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7497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D27FD635-F0F8-4202-8C44-C6C9203F204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1624B9-AD22-49BD-9F7D-0B3766BCD7A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동시성 제어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22E213-218C-4D36-9DE4-C953FF44E31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프로젝트에 이미 여러 종류의 락/원자성 처리가 섞여 있음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9D274131-0518-4754-BFA6-A87D0826BE19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401EEA7-316C-441B-84C2-91BC5BCB781B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85850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5902ED-FE91-48A0-B5A9-7116C25AB70D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6B3001-C2DC-449C-B50F-6BB364CF5EC7}"/>
              </a:ext>
            </a:extLst>
          </p:cNvPr>
          <p:cNvSpPr>
            <a:spLocks noGrp="1"/>
          </p:cNvSpPr>
          <p:nvPr/>
        </p:nvSpPr>
        <p:spPr>
          <a:xfrm>
            <a:off x="2590800" y="2000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전략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02F720-C78E-4F15-974D-E55EAD348A19}"/>
              </a:ext>
            </a:extLst>
          </p:cNvPr>
          <p:cNvSpPr>
            <a:spLocks noGrp="1"/>
          </p:cNvSpPr>
          <p:nvPr/>
        </p:nvSpPr>
        <p:spPr>
          <a:xfrm>
            <a:off x="4781550" y="20002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코드 근거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8D9B93-022E-445E-967B-852D118371A7}"/>
              </a:ext>
            </a:extLst>
          </p:cNvPr>
          <p:cNvSpPr>
            <a:spLocks noGrp="1"/>
          </p:cNvSpPr>
          <p:nvPr/>
        </p:nvSpPr>
        <p:spPr>
          <a:xfrm>
            <a:off x="8972550" y="2000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목적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116F0B1C-A9A2-4648-9B83-C2891E2EA8E4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155616-A922-4964-B267-A2B3DADBF318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재고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0CFD59-51DF-4E83-A6E0-1BD4E780CEF6}"/>
              </a:ext>
            </a:extLst>
          </p:cNvPr>
          <p:cNvSpPr>
            <a:spLocks noGrp="1"/>
          </p:cNvSpPr>
          <p:nvPr/>
        </p:nvSpPr>
        <p:spPr>
          <a:xfrm>
            <a:off x="2590800" y="24193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123B52"/>
                </a:solidFill>
              </a:defRPr>
            </a:pPr>
            <a:r>
              <a:rPr sz="975" b="0">
                <a:solidFill>
                  <a:srgbClr val="123B52"/>
                </a:solidFill>
              </a:rPr>
              <a:t>DB 비관적 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1081C7-FE36-4A6B-BE53-C45700FB8457}"/>
              </a:ext>
            </a:extLst>
          </p:cNvPr>
          <p:cNvSpPr>
            <a:spLocks noGrp="1"/>
          </p:cNvSpPr>
          <p:nvPr/>
        </p:nvSpPr>
        <p:spPr>
          <a:xfrm>
            <a:off x="4781550" y="24193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StockRepository.findByProductIdWithPessimisticLock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6ED0BA-012F-4B68-92CB-90AABF3A1B30}"/>
              </a:ext>
            </a:extLst>
          </p:cNvPr>
          <p:cNvSpPr>
            <a:spLocks noGrp="1"/>
          </p:cNvSpPr>
          <p:nvPr/>
        </p:nvSpPr>
        <p:spPr>
          <a:xfrm>
            <a:off x="8972550" y="24193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같은 상품 주문/입고 정합성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487DF45D-DB91-48CF-AF36-256E9CA7F131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E39DEC-EBFA-4840-B0F7-B1914A41F8A8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쿠폰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A72803-8C21-46F2-87D2-49974B3A8633}"/>
              </a:ext>
            </a:extLst>
          </p:cNvPr>
          <p:cNvSpPr>
            <a:spLocks noGrp="1"/>
          </p:cNvSpPr>
          <p:nvPr/>
        </p:nvSpPr>
        <p:spPr>
          <a:xfrm>
            <a:off x="2590800" y="29718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123B52"/>
                </a:solidFill>
              </a:defRPr>
            </a:pPr>
            <a:r>
              <a:rPr sz="975" b="0">
                <a:solidFill>
                  <a:srgbClr val="123B52"/>
                </a:solidFill>
              </a:rPr>
              <a:t>DB 비관적 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9CA53E-05DA-4C39-AB1D-5F62B54D1EBF}"/>
              </a:ext>
            </a:extLst>
          </p:cNvPr>
          <p:cNvSpPr>
            <a:spLocks noGrp="1"/>
          </p:cNvSpPr>
          <p:nvPr/>
        </p:nvSpPr>
        <p:spPr>
          <a:xfrm>
            <a:off x="4781550" y="29718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CouponRepository.findByIdWithPessimisticLock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9940F6-98D6-461D-9FB7-C5E7E0EEFDF8}"/>
              </a:ext>
            </a:extLst>
          </p:cNvPr>
          <p:cNvSpPr>
            <a:spLocks noGrp="1"/>
          </p:cNvSpPr>
          <p:nvPr/>
        </p:nvSpPr>
        <p:spPr>
          <a:xfrm>
            <a:off x="8972550" y="29718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발급 수량 초과 방지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3F5DB1AB-EE17-4DBE-BA59-001EB490C6D4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4BD0A9-A539-4DEF-A0FA-9D0567E6C989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이벤트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A231A9-FF0F-43C3-BEDE-B4906F58608A}"/>
              </a:ext>
            </a:extLst>
          </p:cNvPr>
          <p:cNvSpPr>
            <a:spLocks noGrp="1"/>
          </p:cNvSpPr>
          <p:nvPr/>
        </p:nvSpPr>
        <p:spPr>
          <a:xfrm>
            <a:off x="2590800" y="35242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123B52"/>
                </a:solidFill>
              </a:defRPr>
            </a:pPr>
            <a:r>
              <a:rPr sz="975" b="0">
                <a:solidFill>
                  <a:srgbClr val="123B52"/>
                </a:solidFill>
              </a:rPr>
              <a:t>Redis 분산락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CC22F7-5AA7-4E68-8C30-C82FEC367E91}"/>
              </a:ext>
            </a:extLst>
          </p:cNvPr>
          <p:cNvSpPr>
            <a:spLocks noGrp="1"/>
          </p:cNvSpPr>
          <p:nvPr/>
        </p:nvSpPr>
        <p:spPr>
          <a:xfrm>
            <a:off x="4781550" y="35242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Redisson RLock tryLock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4243F9-58CF-4791-BED5-C0809338C572}"/>
              </a:ext>
            </a:extLst>
          </p:cNvPr>
          <p:cNvSpPr>
            <a:spLocks noGrp="1"/>
          </p:cNvSpPr>
          <p:nvPr/>
        </p:nvSpPr>
        <p:spPr>
          <a:xfrm>
            <a:off x="8972550" y="35242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여러 서버 확장 가능성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76C61D5C-B76C-4C7C-B455-AA56234BF8FC}"/>
              </a:ext>
            </a:extLst>
          </p:cNvPr>
          <p:cNvSpPr>
            <a:spLocks noGrp="1"/>
          </p:cNvSpPr>
          <p:nvPr/>
        </p:nvSpPr>
        <p:spPr>
          <a:xfrm>
            <a:off x="857250" y="396240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CACE6C-15A8-4E04-B720-81C875334584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Refresh Token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667FC5-19F2-4AB0-BFEE-3E25BFBF3332}"/>
              </a:ext>
            </a:extLst>
          </p:cNvPr>
          <p:cNvSpPr>
            <a:spLocks noGrp="1"/>
          </p:cNvSpPr>
          <p:nvPr/>
        </p:nvSpPr>
        <p:spPr>
          <a:xfrm>
            <a:off x="2590800" y="40767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123B52"/>
                </a:solidFill>
              </a:defRPr>
            </a:pPr>
            <a:r>
              <a:rPr sz="975" b="0">
                <a:solidFill>
                  <a:srgbClr val="123B52"/>
                </a:solidFill>
              </a:rPr>
              <a:t>Redis Lua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F97457A-DEC6-4BF0-B828-E04A290606B4}"/>
              </a:ext>
            </a:extLst>
          </p:cNvPr>
          <p:cNvSpPr>
            <a:spLocks noGrp="1"/>
          </p:cNvSpPr>
          <p:nvPr/>
        </p:nvSpPr>
        <p:spPr>
          <a:xfrm>
            <a:off x="4781550" y="40767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rotate/revoke 원자 처리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32405F-B28C-44DC-AE1B-83FCFD20720C}"/>
              </a:ext>
            </a:extLst>
          </p:cNvPr>
          <p:cNvSpPr>
            <a:spLocks noGrp="1"/>
          </p:cNvSpPr>
          <p:nvPr/>
        </p:nvSpPr>
        <p:spPr>
          <a:xfrm>
            <a:off x="8972550" y="40767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토큰 재사용 감지/세션 폐기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EB8EBF-D516-4F39-9226-6F3FA7DBB6A5}"/>
              </a:ext>
            </a:extLst>
          </p:cNvPr>
          <p:cNvSpPr>
            <a:spLocks noGrp="1"/>
          </p:cNvSpPr>
          <p:nvPr/>
        </p:nvSpPr>
        <p:spPr>
          <a:xfrm>
            <a:off x="895350" y="52768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멘토링 핵심: 어느 상황에 DB 락, 어느 상황에 Redis 락/원자 스크립트를 선택할지 팀 기준 정립</a:t>
            </a:r>
          </a:p>
        </p:txBody>
      </p:sp>
    </p:spTree>
    <p:extLst>
      <p:ext uri="{BB962C8B-B14F-4D97-AF65-F5344CB8AC3E}">
        <p14:creationId xmlns:p14="http://schemas.microsoft.com/office/powerpoint/2010/main" val="187472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9B7E48-B6A5-4DB1-856D-08A046DDCAD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C1885F-6766-4312-BFAF-BAD39AC1AAA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회원 소유 데이터와 접근 제어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335C6E-AA31-4F10-AE45-A1A3917AAF44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장바구니, 주문, 쿠폰, 리뷰는 memberId를 중심으로 소유권을 검증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153A6997-7B54-409A-9B47-BADBE07CE02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F33119E-6DE3-41ED-816E-68351ACFB6A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25717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EC45BD-9EF5-476E-A295-F7CD8F400F18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66675" cy="156210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9A1001-92D8-40F5-848A-9C18CC4D9E18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장바구니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C6623C-1FA4-42A1-9801-0C6676406C73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22098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AuthMember.memberId로 조회/추가/수정/삭제/checkout 처리. 항목 수정 시 CartEntity.isOwnedBy로 검증.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237AACF-F0E9-48F6-BB71-B11C5420AE36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5717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0BB9A4-A026-4E49-AE25-9F13CBC024F4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66675" cy="1562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7C347D-CF42-45F7-9C72-C2255D0278FE}"/>
              </a:ext>
            </a:extLst>
          </p:cNvPr>
          <p:cNvSpPr>
            <a:spLocks noGrp="1"/>
          </p:cNvSpPr>
          <p:nvPr/>
        </p:nvSpPr>
        <p:spPr>
          <a:xfrm>
            <a:off x="3733800" y="2019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주문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86BB83-39B8-415E-9196-3853E1F0CBE6}"/>
              </a:ext>
            </a:extLst>
          </p:cNvPr>
          <p:cNvSpPr>
            <a:spLocks noGrp="1"/>
          </p:cNvSpPr>
          <p:nvPr/>
        </p:nvSpPr>
        <p:spPr>
          <a:xfrm>
            <a:off x="3733800" y="2362200"/>
            <a:ext cx="22098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구매 시 Order.memberId 저장. 주문 상세 조회에서 요청자와 주문 소유자를 비교.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5F23E70-BB6E-43F5-BC57-7DB36A29ED92}"/>
              </a:ext>
            </a:extLst>
          </p:cNvPr>
          <p:cNvSpPr>
            <a:spLocks noGrp="1"/>
          </p:cNvSpPr>
          <p:nvPr/>
        </p:nvSpPr>
        <p:spPr>
          <a:xfrm>
            <a:off x="6362700" y="1847850"/>
            <a:ext cx="25717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80512F-374B-4A2F-914A-4399FFD53BE0}"/>
              </a:ext>
            </a:extLst>
          </p:cNvPr>
          <p:cNvSpPr>
            <a:spLocks noGrp="1"/>
          </p:cNvSpPr>
          <p:nvPr/>
        </p:nvSpPr>
        <p:spPr>
          <a:xfrm>
            <a:off x="6362700" y="1847850"/>
            <a:ext cx="66675" cy="156210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F77775-15B9-441B-A0D3-8B8591691700}"/>
              </a:ext>
            </a:extLst>
          </p:cNvPr>
          <p:cNvSpPr>
            <a:spLocks noGrp="1"/>
          </p:cNvSpPr>
          <p:nvPr/>
        </p:nvSpPr>
        <p:spPr>
          <a:xfrm>
            <a:off x="6572250" y="2019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쿠폰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D13F44-C24F-4B36-93DC-F608C0DB5319}"/>
              </a:ext>
            </a:extLst>
          </p:cNvPr>
          <p:cNvSpPr>
            <a:spLocks noGrp="1"/>
          </p:cNvSpPr>
          <p:nvPr/>
        </p:nvSpPr>
        <p:spPr>
          <a:xfrm>
            <a:off x="6572250" y="2362200"/>
            <a:ext cx="22098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발급/내 쿠폰 조회/사용/취소가 memberId 기반. 타인 쿠폰 접근 시 FORBIDDEN.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56860C17-1851-4895-87B9-AD89D22B7458}"/>
              </a:ext>
            </a:extLst>
          </p:cNvPr>
          <p:cNvSpPr>
            <a:spLocks noGrp="1"/>
          </p:cNvSpPr>
          <p:nvPr/>
        </p:nvSpPr>
        <p:spPr>
          <a:xfrm>
            <a:off x="9201150" y="1847850"/>
            <a:ext cx="25717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C8136D3-1D2D-41A5-9679-3573A0F4E8AD}"/>
              </a:ext>
            </a:extLst>
          </p:cNvPr>
          <p:cNvSpPr>
            <a:spLocks noGrp="1"/>
          </p:cNvSpPr>
          <p:nvPr/>
        </p:nvSpPr>
        <p:spPr>
          <a:xfrm>
            <a:off x="9201150" y="1847850"/>
            <a:ext cx="66675" cy="1562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E9B2B5-01FC-4E60-B39E-05E92D83D69C}"/>
              </a:ext>
            </a:extLst>
          </p:cNvPr>
          <p:cNvSpPr>
            <a:spLocks noGrp="1"/>
          </p:cNvSpPr>
          <p:nvPr/>
        </p:nvSpPr>
        <p:spPr>
          <a:xfrm>
            <a:off x="9410700" y="2019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리뷰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5FEB84-F884-4972-A463-72608604499C}"/>
              </a:ext>
            </a:extLst>
          </p:cNvPr>
          <p:cNvSpPr>
            <a:spLocks noGrp="1"/>
          </p:cNvSpPr>
          <p:nvPr/>
        </p:nvSpPr>
        <p:spPr>
          <a:xfrm>
            <a:off x="9410700" y="2362200"/>
            <a:ext cx="22098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작성자 memberId를 저장하고 수정/삭제 시 작성자 검증. 목록/상세 조회는 공개.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C946FC-CF86-4387-A7D7-08C8D1D2FD13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주의할 지점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EDBB9A6-02D4-4EAC-9D4F-4E632D2CEE9C}"/>
              </a:ext>
            </a:extLst>
          </p:cNvPr>
          <p:cNvSpPr>
            <a:spLocks noGrp="1"/>
          </p:cNvSpPr>
          <p:nvPr/>
        </p:nvSpPr>
        <p:spPr>
          <a:xfrm>
            <a:off x="819150" y="458152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CA2FE0-74B9-4754-AF6D-31E2DF05B651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1002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장바구니 checkout의 주문 memberId 저장 방식은 다른 주문 생성 흐름과 일치해야 함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9BAB9FE-45B9-436F-A6C7-5540E54137E5}"/>
              </a:ext>
            </a:extLst>
          </p:cNvPr>
          <p:cNvSpPr>
            <a:spLocks noGrp="1"/>
          </p:cNvSpPr>
          <p:nvPr/>
        </p:nvSpPr>
        <p:spPr>
          <a:xfrm>
            <a:off x="819150" y="494347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A0E6A53-CFA9-46BB-8170-AAD3ADAE6964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1002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응답에 내부 memberId를 어느 API까지 노출할지 기준 필요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6DBE7AE-DD9B-4121-8398-6EB152E23CA9}"/>
              </a:ext>
            </a:extLst>
          </p:cNvPr>
          <p:cNvSpPr>
            <a:spLocks noGrp="1"/>
          </p:cNvSpPr>
          <p:nvPr/>
        </p:nvSpPr>
        <p:spPr>
          <a:xfrm>
            <a:off x="819150" y="530542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7BA0E5B-C73A-4D9B-9608-781C698C93D5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1002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프론트 localStorage 주문 히스토리와 서버 주문 조회의 책임 분리 필요</a:t>
            </a:r>
          </a:p>
        </p:txBody>
      </p:sp>
    </p:spTree>
    <p:extLst>
      <p:ext uri="{BB962C8B-B14F-4D97-AF65-F5344CB8AC3E}">
        <p14:creationId xmlns:p14="http://schemas.microsoft.com/office/powerpoint/2010/main" val="75432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D4C783-844A-4035-B51E-8F26A8FDDDD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09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514D8E-41B9-4AAE-8E8C-7AA159EE8EE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Redis 사용 위치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8DB0C4-C6E0-4189-9397-044968DB8E6A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Redis가 단일 목적이 아니라 캐시, 상태 저장, 분산락에 함께 쓰이고 있음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7BA68862-6F18-4DEB-9CD0-3721F06B9175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B22A774-3756-4CBB-83EB-A07E89D84B12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31242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683111-18F0-4C77-8BEC-5E30F8440E02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66675" cy="139065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FFF54B-20FE-49B5-9C08-4183C33F44BF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OAuth State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1E168-2FC7-479C-8C01-1151D268BA05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762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인가 URL 발급 시 state + nonce를 짧은 TTL로 저장하고 callback/login에서 소비합니다.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EAE2C4D-0367-4427-B420-56BD719CEEEA}"/>
              </a:ext>
            </a:extLst>
          </p:cNvPr>
          <p:cNvSpPr>
            <a:spLocks noGrp="1"/>
          </p:cNvSpPr>
          <p:nvPr/>
        </p:nvSpPr>
        <p:spPr>
          <a:xfrm>
            <a:off x="4533900" y="1905000"/>
            <a:ext cx="31242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0E0F9F-DC11-4B06-B7E7-8CD883E479BA}"/>
              </a:ext>
            </a:extLst>
          </p:cNvPr>
          <p:cNvSpPr>
            <a:spLocks noGrp="1"/>
          </p:cNvSpPr>
          <p:nvPr/>
        </p:nvSpPr>
        <p:spPr>
          <a:xfrm>
            <a:off x="4533900" y="1905000"/>
            <a:ext cx="66675" cy="13906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EC66C1-0016-4B6F-AC47-104C6DF58E28}"/>
              </a:ext>
            </a:extLst>
          </p:cNvPr>
          <p:cNvSpPr>
            <a:spLocks noGrp="1"/>
          </p:cNvSpPr>
          <p:nvPr/>
        </p:nvSpPr>
        <p:spPr>
          <a:xfrm>
            <a:off x="4743450" y="20764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Refresh Token Session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EA6400-DB9F-47E1-B7C1-1DDEA8249AB1}"/>
              </a:ext>
            </a:extLst>
          </p:cNvPr>
          <p:cNvSpPr>
            <a:spLocks noGrp="1"/>
          </p:cNvSpPr>
          <p:nvPr/>
        </p:nvSpPr>
        <p:spPr>
          <a:xfrm>
            <a:off x="4743450" y="2419350"/>
            <a:ext cx="2762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토큰 해시, 세션 active token, memberId, revoked marker를 Redis에 저장합니다.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7497E23-52F0-4934-A492-3EEB97332ABA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31242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4B2288-4B9D-4045-84E9-C7C39513AFC3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66675" cy="139065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04D697-D9E1-4867-9018-645EFD286642}"/>
              </a:ext>
            </a:extLst>
          </p:cNvPr>
          <p:cNvSpPr>
            <a:spLocks noGrp="1"/>
          </p:cNvSpPr>
          <p:nvPr/>
        </p:nvSpPr>
        <p:spPr>
          <a:xfrm>
            <a:off x="8458200" y="20764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Cart Cache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34B103-8415-4A6F-827F-2B99AAA04737}"/>
              </a:ext>
            </a:extLst>
          </p:cNvPr>
          <p:cNvSpPr>
            <a:spLocks noGrp="1"/>
          </p:cNvSpPr>
          <p:nvPr/>
        </p:nvSpPr>
        <p:spPr>
          <a:xfrm>
            <a:off x="8458200" y="2419350"/>
            <a:ext cx="2762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@Cacheable/@CacheEvict로 회원별 장바구니 조회 결과를 캐시합니다.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484CE6AF-2AE6-4908-9600-FE6091A936E9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31242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C70DFD-D4A9-49F5-9198-58ED14DB67D8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66675" cy="12573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0B7BEC-E4BB-4CC7-94C7-E3D6491ED4BA}"/>
              </a:ext>
            </a:extLst>
          </p:cNvPr>
          <p:cNvSpPr>
            <a:spLocks noGrp="1"/>
          </p:cNvSpPr>
          <p:nvPr/>
        </p:nvSpPr>
        <p:spPr>
          <a:xfrm>
            <a:off x="2895600" y="40576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Distributed Lock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7B7B27-AD51-44B9-9192-A04E2B1B1548}"/>
              </a:ext>
            </a:extLst>
          </p:cNvPr>
          <p:cNvSpPr>
            <a:spLocks noGrp="1"/>
          </p:cNvSpPr>
          <p:nvPr/>
        </p:nvSpPr>
        <p:spPr>
          <a:xfrm>
            <a:off x="2895600" y="440055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선착순 이벤트 참여에서 eventId별 Redisson RLock을 사용합니다.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A76DB6C8-A6CF-4F82-B833-33A31408D576}"/>
              </a:ext>
            </a:extLst>
          </p:cNvPr>
          <p:cNvSpPr>
            <a:spLocks noGrp="1"/>
          </p:cNvSpPr>
          <p:nvPr/>
        </p:nvSpPr>
        <p:spPr>
          <a:xfrm>
            <a:off x="6400800" y="3886200"/>
            <a:ext cx="31242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ACB45C-989A-49A6-B50D-D09B0877298E}"/>
              </a:ext>
            </a:extLst>
          </p:cNvPr>
          <p:cNvSpPr>
            <a:spLocks noGrp="1"/>
          </p:cNvSpPr>
          <p:nvPr/>
        </p:nvSpPr>
        <p:spPr>
          <a:xfrm>
            <a:off x="6400800" y="3886200"/>
            <a:ext cx="66675" cy="125730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FB9070-FF68-4A13-9D4F-0CBB3B08B0D9}"/>
              </a:ext>
            </a:extLst>
          </p:cNvPr>
          <p:cNvSpPr>
            <a:spLocks noGrp="1"/>
          </p:cNvSpPr>
          <p:nvPr/>
        </p:nvSpPr>
        <p:spPr>
          <a:xfrm>
            <a:off x="6610350" y="40576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운영 질문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1A4364-217B-4FCA-92E6-B39815D9F4CE}"/>
              </a:ext>
            </a:extLst>
          </p:cNvPr>
          <p:cNvSpPr>
            <a:spLocks noGrp="1"/>
          </p:cNvSpPr>
          <p:nvPr/>
        </p:nvSpPr>
        <p:spPr>
          <a:xfrm>
            <a:off x="6610350" y="440055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같은 Redis에 인증/캐시/락을 함께 둘 때 TTL, key namespace, 장애 격리 정책을 어떻게 잡을지 검토 필요</a:t>
            </a:r>
          </a:p>
        </p:txBody>
      </p:sp>
    </p:spTree>
    <p:extLst>
      <p:ext uri="{BB962C8B-B14F-4D97-AF65-F5344CB8AC3E}">
        <p14:creationId xmlns:p14="http://schemas.microsoft.com/office/powerpoint/2010/main" val="1642791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16204453-4F91-4ADE-89FB-356A8DA4818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10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8058A1-D261-45D8-8ECE-2C746A28914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API 문서와 응답 계약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9D3D60-FDD3-4B54-8FE8-03F40EA2CA30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Swagger 문서와 CommonResponse/ErrorCode가 프로젝트 공통 계약의 중심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6E33E8F5-21E9-4FEA-999F-F5FA78E786B5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DDBE600-F318-481C-AC73-5D9411DD06A6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3238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5B020-CACA-40AA-A6D0-064C0D51E664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66675" cy="152400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DD5E12-BC1E-43F1-AD6C-E2C78C73493D}"/>
              </a:ext>
            </a:extLst>
          </p:cNvPr>
          <p:cNvSpPr>
            <a:spLocks noGrp="1"/>
          </p:cNvSpPr>
          <p:nvPr/>
        </p:nvSpPr>
        <p:spPr>
          <a:xfrm>
            <a:off x="1009650" y="203835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Swagger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F40A7B-A8E2-4F69-86B9-5F7BAEF19E18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2876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OpenApiConfig와 각 Controller의 @Operation/@ApiResponse로 인증 필요 여부와 응답 예시를 문서화.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8568F8F-D0D0-4F02-AFF5-45D4F706B1D4}"/>
              </a:ext>
            </a:extLst>
          </p:cNvPr>
          <p:cNvSpPr>
            <a:spLocks noGrp="1"/>
          </p:cNvSpPr>
          <p:nvPr/>
        </p:nvSpPr>
        <p:spPr>
          <a:xfrm>
            <a:off x="4476750" y="1866900"/>
            <a:ext cx="3238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DD7CB6-8FAF-4B07-8DEF-173163ACD246}"/>
              </a:ext>
            </a:extLst>
          </p:cNvPr>
          <p:cNvSpPr>
            <a:spLocks noGrp="1"/>
          </p:cNvSpPr>
          <p:nvPr/>
        </p:nvSpPr>
        <p:spPr>
          <a:xfrm>
            <a:off x="4476750" y="1866900"/>
            <a:ext cx="66675" cy="15240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AF7843-FB4B-4C15-8103-58E94326F9C5}"/>
              </a:ext>
            </a:extLst>
          </p:cNvPr>
          <p:cNvSpPr>
            <a:spLocks noGrp="1"/>
          </p:cNvSpPr>
          <p:nvPr/>
        </p:nvSpPr>
        <p:spPr>
          <a:xfrm>
            <a:off x="4686300" y="203835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CommonResponse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0EA84E-AC38-4D57-B789-DF1CACDF6033}"/>
              </a:ext>
            </a:extLst>
          </p:cNvPr>
          <p:cNvSpPr>
            <a:spLocks noGrp="1"/>
          </p:cNvSpPr>
          <p:nvPr/>
        </p:nvSpPr>
        <p:spPr>
          <a:xfrm>
            <a:off x="4686300" y="2381250"/>
            <a:ext cx="2876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성공/실패 응답을 success, data, errorCode, message 형태로 통일하는 방향.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5A3D40E-71D5-4ACF-B2A5-E7F17A1427B6}"/>
              </a:ext>
            </a:extLst>
          </p:cNvPr>
          <p:cNvSpPr>
            <a:spLocks noGrp="1"/>
          </p:cNvSpPr>
          <p:nvPr/>
        </p:nvSpPr>
        <p:spPr>
          <a:xfrm>
            <a:off x="8153400" y="1866900"/>
            <a:ext cx="3238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F09EF5-DFC0-4CF8-B2F4-17BFB8073401}"/>
              </a:ext>
            </a:extLst>
          </p:cNvPr>
          <p:cNvSpPr>
            <a:spLocks noGrp="1"/>
          </p:cNvSpPr>
          <p:nvPr/>
        </p:nvSpPr>
        <p:spPr>
          <a:xfrm>
            <a:off x="8153400" y="1866900"/>
            <a:ext cx="66675" cy="152400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607E28-2C62-4F0C-A134-0E23ADB5912D}"/>
              </a:ext>
            </a:extLst>
          </p:cNvPr>
          <p:cNvSpPr>
            <a:spLocks noGrp="1"/>
          </p:cNvSpPr>
          <p:nvPr/>
        </p:nvSpPr>
        <p:spPr>
          <a:xfrm>
            <a:off x="8362950" y="203835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Security Error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544A6C-A96F-478B-A8D4-36B4B088325A}"/>
              </a:ext>
            </a:extLst>
          </p:cNvPr>
          <p:cNvSpPr>
            <a:spLocks noGrp="1"/>
          </p:cNvSpPr>
          <p:nvPr/>
        </p:nvSpPr>
        <p:spPr>
          <a:xfrm>
            <a:off x="8362950" y="2381250"/>
            <a:ext cx="2876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401/403도 SecurityErrorResponseWriter를 통해 공통 JSON으로 내려가도록 구성.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E4E12E-336E-4BD9-B7FE-FB3A07D77E66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멘토링에서 확인할 것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E4348A6-8C02-456E-B149-A35FF9CE6BF6}"/>
              </a:ext>
            </a:extLst>
          </p:cNvPr>
          <p:cNvSpPr>
            <a:spLocks noGrp="1"/>
          </p:cNvSpPr>
          <p:nvPr/>
        </p:nvSpPr>
        <p:spPr>
          <a:xfrm>
            <a:off x="952500" y="452437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25B003-65DE-4A65-8D51-18AC303C4EFA}"/>
              </a:ext>
            </a:extLst>
          </p:cNvPr>
          <p:cNvSpPr>
            <a:spLocks noGrp="1"/>
          </p:cNvSpPr>
          <p:nvPr/>
        </p:nvSpPr>
        <p:spPr>
          <a:xfrm>
            <a:off x="1123950" y="4438650"/>
            <a:ext cx="973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실제 보안 정책과 Swagger security requirement가 계속 동기화되는 방법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277AF03-19D4-440B-BE04-43CF4A6B887B}"/>
              </a:ext>
            </a:extLst>
          </p:cNvPr>
          <p:cNvSpPr>
            <a:spLocks noGrp="1"/>
          </p:cNvSpPr>
          <p:nvPr/>
        </p:nvSpPr>
        <p:spPr>
          <a:xfrm>
            <a:off x="952500" y="488632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7C29F9-4587-4BC3-842C-ED8435455DD2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973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BusinessException 메시지를 커스텀할 때 공통 응답 계약이 깨지지 않는지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D7889D8-4EF8-41DE-897A-B60CE80141C7}"/>
              </a:ext>
            </a:extLst>
          </p:cNvPr>
          <p:cNvSpPr>
            <a:spLocks noGrp="1"/>
          </p:cNvSpPr>
          <p:nvPr/>
        </p:nvSpPr>
        <p:spPr>
          <a:xfrm>
            <a:off x="952500" y="5248275"/>
            <a:ext cx="76200" cy="76200"/>
          </a:xfrm>
          <a:prstGeom prst="ellipse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C118D5-A68C-4C36-A237-14EB68A57E05}"/>
              </a:ext>
            </a:extLst>
          </p:cNvPr>
          <p:cNvSpPr>
            <a:spLocks noGrp="1"/>
          </p:cNvSpPr>
          <p:nvPr/>
        </p:nvSpPr>
        <p:spPr>
          <a:xfrm>
            <a:off x="1123950" y="5162550"/>
            <a:ext cx="973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프론트가 에러 코드를 기준으로 처리할 수 있을 만큼 ErrorCode가 안정적인지</a:t>
            </a:r>
          </a:p>
        </p:txBody>
      </p:sp>
    </p:spTree>
    <p:extLst>
      <p:ext uri="{BB962C8B-B14F-4D97-AF65-F5344CB8AC3E}">
        <p14:creationId xmlns:p14="http://schemas.microsoft.com/office/powerpoint/2010/main" val="1942581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898E2-0C17-4995-B5F0-0CF2F35F6FE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BCBBA6-1921-4841-ACF0-D37366BCBB8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개발/배포 환경 준비 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813034-1306-448F-9023-D23207D70FD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로컬 통합 환경은 Docker 기반으로 MySQL과 Redis를 함께 띄우는 구조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A1C42817-40D0-4577-AC79-3518713763F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6138FB9-E5A7-4C13-9B2D-4DD7FAB0237F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32385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188542-2AD2-49FF-8710-D82D2BF47844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66675" cy="148590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1F62-CF52-4FD0-8444-963A738F2BBC}"/>
              </a:ext>
            </a:extLst>
          </p:cNvPr>
          <p:cNvSpPr>
            <a:spLocks noGrp="1"/>
          </p:cNvSpPr>
          <p:nvPr/>
        </p:nvSpPr>
        <p:spPr>
          <a:xfrm>
            <a:off x="1009650" y="205740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Local Infra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A6A8CF-77C5-43CC-A062-8E94303D71DE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2876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docker-compose.yml: MySQL 8.4, Redis 7.2, healthcheck, volume, bridge network 구성.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B3556F04-CF23-4413-988B-AA4FAC6EC532}"/>
              </a:ext>
            </a:extLst>
          </p:cNvPr>
          <p:cNvSpPr>
            <a:spLocks noGrp="1"/>
          </p:cNvSpPr>
          <p:nvPr/>
        </p:nvSpPr>
        <p:spPr>
          <a:xfrm>
            <a:off x="4476750" y="1885950"/>
            <a:ext cx="32385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1D9B8B-0FAB-44B5-943B-CE0A7DC66A68}"/>
              </a:ext>
            </a:extLst>
          </p:cNvPr>
          <p:cNvSpPr>
            <a:spLocks noGrp="1"/>
          </p:cNvSpPr>
          <p:nvPr/>
        </p:nvSpPr>
        <p:spPr>
          <a:xfrm>
            <a:off x="4476750" y="1885950"/>
            <a:ext cx="66675" cy="1485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23ACD6-C950-4654-94DC-E7E3FA816648}"/>
              </a:ext>
            </a:extLst>
          </p:cNvPr>
          <p:cNvSpPr>
            <a:spLocks noGrp="1"/>
          </p:cNvSpPr>
          <p:nvPr/>
        </p:nvSpPr>
        <p:spPr>
          <a:xfrm>
            <a:off x="4686300" y="205740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Configuration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BB4EC5-DBCB-403D-BA69-F73DC0A6D008}"/>
              </a:ext>
            </a:extLst>
          </p:cNvPr>
          <p:cNvSpPr>
            <a:spLocks noGrp="1"/>
          </p:cNvSpPr>
          <p:nvPr/>
        </p:nvSpPr>
        <p:spPr>
          <a:xfrm>
            <a:off x="4686300" y="2400300"/>
            <a:ext cx="2876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.env 기반 DB/Redis/JWT/Kakao/Toss 설정. 운영에서는 기본값 제거와 Secret 주입 강제가 필요.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6320AE2-508B-4DF3-9A9E-5D41A0972933}"/>
              </a:ext>
            </a:extLst>
          </p:cNvPr>
          <p:cNvSpPr>
            <a:spLocks noGrp="1"/>
          </p:cNvSpPr>
          <p:nvPr/>
        </p:nvSpPr>
        <p:spPr>
          <a:xfrm>
            <a:off x="8153400" y="1885950"/>
            <a:ext cx="32385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30F395-F133-4B2C-93DC-2A26BA3A072A}"/>
              </a:ext>
            </a:extLst>
          </p:cNvPr>
          <p:cNvSpPr>
            <a:spLocks noGrp="1"/>
          </p:cNvSpPr>
          <p:nvPr/>
        </p:nvSpPr>
        <p:spPr>
          <a:xfrm>
            <a:off x="8153400" y="1885950"/>
            <a:ext cx="66675" cy="148590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5A6FA2-FE16-43A5-A5ED-E3D1991B2845}"/>
              </a:ext>
            </a:extLst>
          </p:cNvPr>
          <p:cNvSpPr>
            <a:spLocks noGrp="1"/>
          </p:cNvSpPr>
          <p:nvPr/>
        </p:nvSpPr>
        <p:spPr>
          <a:xfrm>
            <a:off x="8362950" y="205740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Deployment Risk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4E7543-65D1-43E1-A96C-352756B839FF}"/>
              </a:ext>
            </a:extLst>
          </p:cNvPr>
          <p:cNvSpPr>
            <a:spLocks noGrp="1"/>
          </p:cNvSpPr>
          <p:nvPr/>
        </p:nvSpPr>
        <p:spPr>
          <a:xfrm>
            <a:off x="8362950" y="2400300"/>
            <a:ext cx="2876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ports가 호스트에 열리므로 배포 환경에서는 내부 네트워크만 노출하거나 bind address 제한 필요.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E4A8C98-2938-43AB-81A2-401A5AB146CF}"/>
              </a:ext>
            </a:extLst>
          </p:cNvPr>
          <p:cNvSpPr>
            <a:spLocks noGrp="1"/>
          </p:cNvSpPr>
          <p:nvPr/>
        </p:nvSpPr>
        <p:spPr>
          <a:xfrm>
            <a:off x="1200150" y="4095750"/>
            <a:ext cx="9791700" cy="876300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A91948-790D-4EF4-A2D5-E674B1363F54}"/>
              </a:ext>
            </a:extLst>
          </p:cNvPr>
          <p:cNvSpPr>
            <a:spLocks noGrp="1"/>
          </p:cNvSpPr>
          <p:nvPr/>
        </p:nvSpPr>
        <p:spPr>
          <a:xfrm>
            <a:off x="1466850" y="4305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C08A2C"/>
                </a:solidFill>
              </a:defRPr>
            </a:pPr>
            <a:r>
              <a:rPr sz="1350" b="1">
                <a:solidFill>
                  <a:srgbClr val="C08A2C"/>
                </a:solidFill>
              </a:rPr>
              <a:t>CI/CD 전 단계 질문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D827B6-53D1-424E-B77B-A3217F8A7AE0}"/>
              </a:ext>
            </a:extLst>
          </p:cNvPr>
          <p:cNvSpPr>
            <a:spLocks noGrp="1"/>
          </p:cNvSpPr>
          <p:nvPr/>
        </p:nvSpPr>
        <p:spPr>
          <a:xfrm>
            <a:off x="3600450" y="42672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후속 개발이 계속 변하는 상황에서 GitHub Actions를 언제부터 강제할지, 최소 체크를 build/test/docker compose smoke 중 어디까지 둘지 결정해야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53587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10213FF-7BD4-4135-A0BE-AD4E8E9115D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BBD9CD-2FA2-4444-A7D1-0A1D4B0905A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테스트 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8A5CFB-D876-453B-98F4-0D816101B95D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단위 테스트뿐 아니라 동시성, MockMvc, 시스템 시나리오 테스트가 일부 존재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90080439-9240-4FA9-A397-4122B262BCC3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1EB7B4F-93D1-4091-B9BB-DDE3A0E1E70B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46291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A50945-CB65-4458-BCC9-64078F3F578B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66675" cy="106680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97B5FE-9C4A-4E7A-B109-9E0D04B3A91C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동시성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64E053-82BF-4B68-9FB4-5CC1E13FE775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4267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PurchaseServiceConcurrencyTest, StockServiceConcurrencyTest, FirstComeEventServiceConcurrencyTest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8876228-8F60-488C-80AC-9684FE606145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46291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F1486-B077-45DE-880F-CAC4F4136357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66675" cy="10668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EC436B-ABF3-41E4-8EF1-7550FCC5E740}"/>
              </a:ext>
            </a:extLst>
          </p:cNvPr>
          <p:cNvSpPr>
            <a:spLocks noGrp="1"/>
          </p:cNvSpPr>
          <p:nvPr/>
        </p:nvSpPr>
        <p:spPr>
          <a:xfrm>
            <a:off x="6248400" y="20764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API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E38339-524E-4FA1-9732-A8D2F84E18AB}"/>
              </a:ext>
            </a:extLst>
          </p:cNvPr>
          <p:cNvSpPr>
            <a:spLocks noGrp="1"/>
          </p:cNvSpPr>
          <p:nvPr/>
        </p:nvSpPr>
        <p:spPr>
          <a:xfrm>
            <a:off x="6248400" y="2419350"/>
            <a:ext cx="4267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PurchaseApiMockMvcTest, AuthControllerTest, MemberControllerTest, SystemScenarioMockMvcTest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1CEB066-35E0-4F0C-8BC2-C4D3938913AE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46291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199143-FA19-4D60-96F1-18D9D92B5D6F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66675" cy="106680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5D9368-6EF6-4419-BB75-82CC5D3B73C7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도메인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4C478E-A861-4F33-8F88-250D95BBC23A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4267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CouponEntity/Service, PaymentService, CartService, StockEntity reservation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44E5D14-DAB6-4F3D-86FF-931AAAF5B10C}"/>
              </a:ext>
            </a:extLst>
          </p:cNvPr>
          <p:cNvSpPr>
            <a:spLocks noGrp="1"/>
          </p:cNvSpPr>
          <p:nvPr/>
        </p:nvSpPr>
        <p:spPr>
          <a:xfrm>
            <a:off x="6038850" y="3390900"/>
            <a:ext cx="46291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F37C92-85F7-4631-B263-D7636E6AE0BF}"/>
              </a:ext>
            </a:extLst>
          </p:cNvPr>
          <p:cNvSpPr>
            <a:spLocks noGrp="1"/>
          </p:cNvSpPr>
          <p:nvPr/>
        </p:nvSpPr>
        <p:spPr>
          <a:xfrm>
            <a:off x="6038850" y="3390900"/>
            <a:ext cx="66675" cy="1066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6F8BC9-3A07-469D-B580-640E1C662CB2}"/>
              </a:ext>
            </a:extLst>
          </p:cNvPr>
          <p:cNvSpPr>
            <a:spLocks noGrp="1"/>
          </p:cNvSpPr>
          <p:nvPr/>
        </p:nvSpPr>
        <p:spPr>
          <a:xfrm>
            <a:off x="6248400" y="35623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인증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02EA276-4C91-477F-A24A-3D24594CD1C7}"/>
              </a:ext>
            </a:extLst>
          </p:cNvPr>
          <p:cNvSpPr>
            <a:spLocks noGrp="1"/>
          </p:cNvSpPr>
          <p:nvPr/>
        </p:nvSpPr>
        <p:spPr>
          <a:xfrm>
            <a:off x="6248400" y="3905250"/>
            <a:ext cx="4267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JwtTokenProvider, JwtAuthenticationFilter, OAuthState, RefreshToken rotation/reuse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14EFF5-22F8-4325-8531-966992E1B41F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보완 방향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60E172-3E87-44D0-BDCF-80A07E937BEC}"/>
              </a:ext>
            </a:extLst>
          </p:cNvPr>
          <p:cNvSpPr>
            <a:spLocks noGrp="1"/>
          </p:cNvSpPr>
          <p:nvPr/>
        </p:nvSpPr>
        <p:spPr>
          <a:xfrm>
            <a:off x="2209800" y="52197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실제 MySQL/Redis 기반 통합 테스트, Toss mock/stub 전략, 결제 실패 후 예약 재고 해제, 배포 전 smoke test를 멘토링에서 확인</a:t>
            </a:r>
          </a:p>
        </p:txBody>
      </p:sp>
    </p:spTree>
    <p:extLst>
      <p:ext uri="{BB962C8B-B14F-4D97-AF65-F5344CB8AC3E}">
        <p14:creationId xmlns:p14="http://schemas.microsoft.com/office/powerpoint/2010/main" val="1471121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0D8777-0448-4D2D-A11B-15C0AD89299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2A1A08-6CD4-4307-921D-884D954EAD9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멘토링 질문 정리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EE00B4ED-4E12-402B-BA09-E633073A42A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3E3E36-0F7E-4FA3-BEE5-1EF16DD31DB3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C08A2C"/>
                </a:solidFill>
              </a:defRPr>
            </a:pPr>
            <a:r>
              <a:rPr sz="1500" b="1">
                <a:solidFill>
                  <a:srgbClr val="C08A2C"/>
                </a:solidFill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4FC515-78FA-4A14-8BAE-9F4D15919049}"/>
              </a:ext>
            </a:extLst>
          </p:cNvPr>
          <p:cNvSpPr>
            <a:spLocks noGrp="1"/>
          </p:cNvSpPr>
          <p:nvPr/>
        </p:nvSpPr>
        <p:spPr>
          <a:xfrm>
            <a:off x="1276350" y="17335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재고/쿠폰/이벤트에서 DB 락과 Redis 분산락을 나누는 기준이 현재 방식이면 충분한가?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2E807084-FBDA-4D04-8913-10154EE2FFAD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100965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E69FEE-85F9-42A2-A1BF-FE6CC411AFA8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C08A2C"/>
                </a:solidFill>
              </a:defRPr>
            </a:pPr>
            <a:r>
              <a:rPr sz="1500" b="1">
                <a:solidFill>
                  <a:srgbClr val="C08A2C"/>
                </a:solidFill>
              </a:rPr>
              <a:t>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38271E-1C38-4D92-8C8B-0CD34F827F67}"/>
              </a:ext>
            </a:extLst>
          </p:cNvPr>
          <p:cNvSpPr>
            <a:spLocks noGrp="1"/>
          </p:cNvSpPr>
          <p:nvPr/>
        </p:nvSpPr>
        <p:spPr>
          <a:xfrm>
            <a:off x="1276350" y="228600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결제 전 PENDING_PAYMENT 주문과 예약 재고의 만료/복구 정책은 어떻게 설계해야 하는가?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6928E542-6238-43F3-8A8F-054C2CF29AAB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100965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A869FB-6E12-472F-8E41-90B85E18DB0C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C08A2C"/>
                </a:solidFill>
              </a:defRPr>
            </a:pPr>
            <a:r>
              <a:rPr sz="1500" b="1">
                <a:solidFill>
                  <a:srgbClr val="C08A2C"/>
                </a:solidFill>
              </a:rPr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BBA8A8-9A9A-4E6F-84BE-C3D4847412AF}"/>
              </a:ext>
            </a:extLst>
          </p:cNvPr>
          <p:cNvSpPr>
            <a:spLocks noGrp="1"/>
          </p:cNvSpPr>
          <p:nvPr/>
        </p:nvSpPr>
        <p:spPr>
          <a:xfrm>
            <a:off x="1276350" y="28384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Refresh Token rotation/reuse 감지 구현에서 세션 단위 폐기 모델이 프로젝트 규모에 적절한가?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A57ECBE9-4DA2-45C6-9635-35F94B25B740}"/>
              </a:ext>
            </a:extLst>
          </p:cNvPr>
          <p:cNvSpPr>
            <a:spLocks noGrp="1"/>
          </p:cNvSpPr>
          <p:nvPr/>
        </p:nvSpPr>
        <p:spPr>
          <a:xfrm>
            <a:off x="857250" y="3257550"/>
            <a:ext cx="100965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CE20A3-526B-42DF-88B2-72BF75A186C3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C08A2C"/>
                </a:solidFill>
              </a:defRPr>
            </a:pPr>
            <a:r>
              <a:rPr sz="1500" b="1">
                <a:solidFill>
                  <a:srgbClr val="C08A2C"/>
                </a:solidFill>
              </a:rPr>
              <a:t>4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D5D23B-4762-45D0-82FD-27441138BA18}"/>
              </a:ext>
            </a:extLst>
          </p:cNvPr>
          <p:cNvSpPr>
            <a:spLocks noGrp="1"/>
          </p:cNvSpPr>
          <p:nvPr/>
        </p:nvSpPr>
        <p:spPr>
          <a:xfrm>
            <a:off x="1276350" y="339090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장바구니 checkout, 단건 구매, 결제/환불/취소가 같은 주문 상태 모델을 공유하도록 더 정리할 부분은?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D988D1D7-2AF4-4E14-8A7D-5FDE19A92145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100965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22CAA0-CE0B-482F-9B5A-F472986798D8}"/>
              </a:ext>
            </a:extLst>
          </p:cNvPr>
          <p:cNvSpPr>
            <a:spLocks noGrp="1"/>
          </p:cNvSpPr>
          <p:nvPr/>
        </p:nvSpPr>
        <p:spPr>
          <a:xfrm>
            <a:off x="857250" y="3962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C08A2C"/>
                </a:solidFill>
              </a:defRPr>
            </a:pPr>
            <a:r>
              <a:rPr sz="1500" b="1">
                <a:solidFill>
                  <a:srgbClr val="C08A2C"/>
                </a:solidFill>
              </a:rPr>
              <a:t>5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10D23BB-29D5-4D12-A12A-B178C4823B9D}"/>
              </a:ext>
            </a:extLst>
          </p:cNvPr>
          <p:cNvSpPr>
            <a:spLocks noGrp="1"/>
          </p:cNvSpPr>
          <p:nvPr/>
        </p:nvSpPr>
        <p:spPr>
          <a:xfrm>
            <a:off x="1276350" y="39433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ADMIN 권한과 일반 USER 권한을 API/Swagger/프론트 메뉴에서 어떻게 일관되게 운영할 것인가?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C13BA971-291F-4EF0-845B-6FC27964E235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100965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CEB185-FB33-4CB4-9271-9C17DADFDA14}"/>
              </a:ext>
            </a:extLst>
          </p:cNvPr>
          <p:cNvSpPr>
            <a:spLocks noGrp="1"/>
          </p:cNvSpPr>
          <p:nvPr/>
        </p:nvSpPr>
        <p:spPr>
          <a:xfrm>
            <a:off x="857250" y="45148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C08A2C"/>
                </a:solidFill>
              </a:defRPr>
            </a:pPr>
            <a:r>
              <a:rPr sz="1500" b="1">
                <a:solidFill>
                  <a:srgbClr val="C08A2C"/>
                </a:solidFill>
              </a:rPr>
              <a:t>6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FB8BA05-CB01-402C-9F66-CBDF4209FEC5}"/>
              </a:ext>
            </a:extLst>
          </p:cNvPr>
          <p:cNvSpPr>
            <a:spLocks noGrp="1"/>
          </p:cNvSpPr>
          <p:nvPr/>
        </p:nvSpPr>
        <p:spPr>
          <a:xfrm>
            <a:off x="1276350" y="449580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Redis를 인증 상태/캐시/분산락에 함께 쓰는 구조에서 장애 격리와 key namespace 기준은?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3EDFAD93-73C0-4714-A043-8A4A88EA5B7E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100965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1225C6-5A57-4296-88C1-18A10348F897}"/>
              </a:ext>
            </a:extLst>
          </p:cNvPr>
          <p:cNvSpPr>
            <a:spLocks noGrp="1"/>
          </p:cNvSpPr>
          <p:nvPr/>
        </p:nvSpPr>
        <p:spPr>
          <a:xfrm>
            <a:off x="857250" y="50673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C08A2C"/>
                </a:solidFill>
              </a:defRPr>
            </a:pPr>
            <a:r>
              <a:rPr sz="1500" b="1">
                <a:solidFill>
                  <a:srgbClr val="C08A2C"/>
                </a:solidFill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18D5C54-F2EE-4570-8D05-39078B905072}"/>
              </a:ext>
            </a:extLst>
          </p:cNvPr>
          <p:cNvSpPr>
            <a:spLocks noGrp="1"/>
          </p:cNvSpPr>
          <p:nvPr/>
        </p:nvSpPr>
        <p:spPr>
          <a:xfrm>
            <a:off x="1276350" y="50482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배포 전 최소 CI/CD 체크는 build, test, docker compose smoke 중 어디까지 필수로 둘 것인가?</a:t>
            </a:r>
          </a:p>
        </p:txBody>
      </p:sp>
    </p:spTree>
    <p:extLst>
      <p:ext uri="{BB962C8B-B14F-4D97-AF65-F5344CB8AC3E}">
        <p14:creationId xmlns:p14="http://schemas.microsoft.com/office/powerpoint/2010/main" val="213536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947CAE80-6994-4033-BD48-10351A0E52F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4ABCCE-8E7C-4D5C-9B97-62A577F67FB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초기 기획 대비 현재 구현 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062808-F036-4382-9856-A95706104534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프론트 v2와 최근 백엔드 보강까지 포함한 현재 코드 기준 대조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CAD38054-B2AB-47CB-BC27-FD94E4CB1FF1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12C60DC-3A85-44A4-B760-E5E8E52F2152}"/>
              </a:ext>
            </a:extLst>
          </p:cNvPr>
          <p:cNvSpPr>
            <a:spLocks noGrp="1"/>
          </p:cNvSpPr>
          <p:nvPr/>
        </p:nvSpPr>
        <p:spPr>
          <a:xfrm>
            <a:off x="552450" y="1771650"/>
            <a:ext cx="110871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C5F113-46CB-41D5-BE1C-271A316FECA0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6FAC7D-1AFD-4CA6-9B44-AFDB58844626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기획서 스펙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136DA1-A2E0-410C-A340-A0681E6F3F19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현재 구현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0C3674-7EB5-4B5B-A437-437E2F90BEC7}"/>
              </a:ext>
            </a:extLst>
          </p:cNvPr>
          <p:cNvSpPr>
            <a:spLocks noGrp="1"/>
          </p:cNvSpPr>
          <p:nvPr/>
        </p:nvSpPr>
        <p:spPr>
          <a:xfrm>
            <a:off x="7639050" y="2000250"/>
            <a:ext cx="3371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차이/남은 부분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E1684D00-8E41-49A7-A37E-50CBA72F7C49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9B7F7D-3AAC-4161-A1AB-C9DD52BC66D7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인증/인가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24EAA8-B729-4FC8-925C-63FBC5CAE8AA}"/>
              </a:ext>
            </a:extLst>
          </p:cNvPr>
          <p:cNvSpPr>
            <a:spLocks noGrp="1"/>
          </p:cNvSpPr>
          <p:nvPr/>
        </p:nvSpPr>
        <p:spPr>
          <a:xfrm>
            <a:off x="2247900" y="2381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JWT + OAuth2, 권한 매트릭스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D35D74-1294-4BD5-8155-20E32AC2AE3F}"/>
              </a:ext>
            </a:extLst>
          </p:cNvPr>
          <p:cNvSpPr>
            <a:spLocks noGrp="1"/>
          </p:cNvSpPr>
          <p:nvPr/>
        </p:nvSpPr>
        <p:spPr>
          <a:xfrm>
            <a:off x="4324350" y="238125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카카오 OAuth, 자체 JWT, Refresh Token, API 잠금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5FB775-D027-4C9F-99BF-2C3065599797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3371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직접 회원가입/일반 로그인, Google OAuth는 미구현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88339113-6E76-40C8-B005-8A850A5344CD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9891E9-81A7-4FCF-BB42-628B99133290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상품/이미지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AF0572-A2F0-42EF-9654-951B8C1578FE}"/>
              </a:ext>
            </a:extLst>
          </p:cNvPr>
          <p:cNvSpPr>
            <a:spLocks noGrp="1"/>
          </p:cNvSpPr>
          <p:nvPr/>
        </p:nvSpPr>
        <p:spPr>
          <a:xfrm>
            <a:off x="2247900" y="2867025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상품 CRUD, 카테고리, S3 이미지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2617BC-D34F-461B-AE10-9D1FD6ECBFC6}"/>
              </a:ext>
            </a:extLst>
          </p:cNvPr>
          <p:cNvSpPr>
            <a:spLocks noGrp="1"/>
          </p:cNvSpPr>
          <p:nvPr/>
        </p:nvSpPr>
        <p:spPr>
          <a:xfrm>
            <a:off x="4324350" y="28670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상품/카테고리 CRUD, 이미지 URL 저장, 관리자 화면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569B39-845E-42A2-BCA9-DB6900A314BF}"/>
              </a:ext>
            </a:extLst>
          </p:cNvPr>
          <p:cNvSpPr>
            <a:spLocks noGrp="1"/>
          </p:cNvSpPr>
          <p:nvPr/>
        </p:nvSpPr>
        <p:spPr>
          <a:xfrm>
            <a:off x="7639050" y="2867025"/>
            <a:ext cx="3371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S3 업로드 연동과 상품 옵션은 미적용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4C363803-2F3A-4BF2-AB06-BD5AC9983AA0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19ED86-2E18-4B93-9A0F-F6013B75EA98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주문/재고/결제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6FD9D7-3284-40CB-B7C8-4506634F4444}"/>
              </a:ext>
            </a:extLst>
          </p:cNvPr>
          <p:cNvSpPr>
            <a:spLocks noGrp="1"/>
          </p:cNvSpPr>
          <p:nvPr/>
        </p:nvSpPr>
        <p:spPr>
          <a:xfrm>
            <a:off x="2247900" y="33528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구매, 취소, Toss 결제, 재고 정합성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80FB7B-07FA-4BAE-8C0F-FAA840FADF17}"/>
              </a:ext>
            </a:extLst>
          </p:cNvPr>
          <p:cNvSpPr>
            <a:spLocks noGrp="1"/>
          </p:cNvSpPr>
          <p:nvPr/>
        </p:nvSpPr>
        <p:spPr>
          <a:xfrm>
            <a:off x="4324350" y="33528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예약-결제확정-환불/복구, Toss 결제, 메일 이벤트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2E76BFD-127D-4450-A101-ACCE62A90254}"/>
              </a:ext>
            </a:extLst>
          </p:cNvPr>
          <p:cNvSpPr>
            <a:spLocks noGrp="1"/>
          </p:cNvSpPr>
          <p:nvPr/>
        </p:nvSpPr>
        <p:spPr>
          <a:xfrm>
            <a:off x="7639050" y="3352800"/>
            <a:ext cx="3371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결제 대기 예약 만료 스케줄러가 추가됨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4EA7E9DC-D93F-4340-871C-9E848290C8BF}"/>
              </a:ext>
            </a:extLst>
          </p:cNvPr>
          <p:cNvSpPr>
            <a:spLocks noGrp="1"/>
          </p:cNvSpPr>
          <p:nvPr/>
        </p:nvSpPr>
        <p:spPr>
          <a:xfrm>
            <a:off x="762000" y="3743325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17C0EC-B420-4FC9-A09B-CC8CCBA22DEC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회원 기능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BFD1F8-D680-4627-AF57-704A1918BFFB}"/>
              </a:ext>
            </a:extLst>
          </p:cNvPr>
          <p:cNvSpPr>
            <a:spLocks noGrp="1"/>
          </p:cNvSpPr>
          <p:nvPr/>
        </p:nvSpPr>
        <p:spPr>
          <a:xfrm>
            <a:off x="2247900" y="3838575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마이페이지, 장바구니, 쿠폰, 포인트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492C81-2B8C-46C0-B348-F5D75DA0E8A7}"/>
              </a:ext>
            </a:extLst>
          </p:cNvPr>
          <p:cNvSpPr>
            <a:spLocks noGrp="1"/>
          </p:cNvSpPr>
          <p:nvPr/>
        </p:nvSpPr>
        <p:spPr>
          <a:xfrm>
            <a:off x="4324350" y="383857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장바구니, 쿠폰, 포인트, 내 주문 목록, 마이페이지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D4E1117-A8B8-41A7-9084-306C67864199}"/>
              </a:ext>
            </a:extLst>
          </p:cNvPr>
          <p:cNvSpPr>
            <a:spLocks noGrp="1"/>
          </p:cNvSpPr>
          <p:nvPr/>
        </p:nvSpPr>
        <p:spPr>
          <a:xfrm>
            <a:off x="7639050" y="3838575"/>
            <a:ext cx="3371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쿠폰·포인트를 주문/결제 금액에 묶는 정책은 남음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ECB7F6DE-D60D-47AF-A471-411DE2F7C098}"/>
              </a:ext>
            </a:extLst>
          </p:cNvPr>
          <p:cNvSpPr>
            <a:spLocks noGrp="1"/>
          </p:cNvSpPr>
          <p:nvPr/>
        </p:nvSpPr>
        <p:spPr>
          <a:xfrm>
            <a:off x="762000" y="422910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51B3BB-6376-43A0-A257-CC0963E20D60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리뷰/조회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A4A68EB-15E6-4222-8D76-5DE4A8E55A6A}"/>
              </a:ext>
            </a:extLst>
          </p:cNvPr>
          <p:cNvSpPr>
            <a:spLocks noGrp="1"/>
          </p:cNvSpPr>
          <p:nvPr/>
        </p:nvSpPr>
        <p:spPr>
          <a:xfrm>
            <a:off x="2247900" y="43243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리뷰/평점, 검색/필터/성능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B6FADA-ADF9-474C-9A71-BE9C3B842C66}"/>
              </a:ext>
            </a:extLst>
          </p:cNvPr>
          <p:cNvSpPr>
            <a:spLocks noGrp="1"/>
          </p:cNvSpPr>
          <p:nvPr/>
        </p:nvSpPr>
        <p:spPr>
          <a:xfrm>
            <a:off x="4324350" y="432435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리뷰 CRUD, 상품 목록/검색/페이지, 프론트 v2 조회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1EAD46B-555F-453B-A657-CE1EEF104C8C}"/>
              </a:ext>
            </a:extLst>
          </p:cNvPr>
          <p:cNvSpPr>
            <a:spLocks noGrp="1"/>
          </p:cNvSpPr>
          <p:nvPr/>
        </p:nvSpPr>
        <p:spPr>
          <a:xfrm>
            <a:off x="7639050" y="4324350"/>
            <a:ext cx="3371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구매자 리뷰 검증과 평점/페이징은 추가 정리 필요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21A7D7BC-294C-42BA-BB1F-9B46B1F79668}"/>
              </a:ext>
            </a:extLst>
          </p:cNvPr>
          <p:cNvSpPr>
            <a:spLocks noGrp="1"/>
          </p:cNvSpPr>
          <p:nvPr/>
        </p:nvSpPr>
        <p:spPr>
          <a:xfrm>
            <a:off x="762000" y="4714875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543BB07-EB20-4C47-8FBE-398809686660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운영/고도화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B08E0E4-7DCD-4FB2-A49A-EAF501EFEE16}"/>
              </a:ext>
            </a:extLst>
          </p:cNvPr>
          <p:cNvSpPr>
            <a:spLocks noGrp="1"/>
          </p:cNvSpPr>
          <p:nvPr/>
        </p:nvSpPr>
        <p:spPr>
          <a:xfrm>
            <a:off x="2247900" y="4810125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AWS, CI/CD, 모니터링, nGrinder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9872EBE-955F-47B8-88A1-3A8D86DFAF1F}"/>
              </a:ext>
            </a:extLst>
          </p:cNvPr>
          <p:cNvSpPr>
            <a:spLocks noGrp="1"/>
          </p:cNvSpPr>
          <p:nvPr/>
        </p:nvSpPr>
        <p:spPr>
          <a:xfrm>
            <a:off x="4324350" y="48101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Docker MySQL/Redis, Swagger, 성능 측정 일부, frontend-v2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E5DAA11-450B-4C37-A12B-63AAF69D2FD6}"/>
              </a:ext>
            </a:extLst>
          </p:cNvPr>
          <p:cNvSpPr>
            <a:spLocks noGrp="1"/>
          </p:cNvSpPr>
          <p:nvPr/>
        </p:nvSpPr>
        <p:spPr>
          <a:xfrm>
            <a:off x="7639050" y="4810125"/>
            <a:ext cx="3371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AWS/CI/CD/모니터링/nGrinder 정식 리포트는 미적용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D84B147-EF7A-4BE9-8A09-53808761D290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요약: 핵심 커머스 흐름은 실제 화면과 연결됐고, 운영 고도화와 할인 정책은 후속 결정이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60298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ED4083-78B9-40F2-AA35-8F5D25038AC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F263E0-21A0-465F-8538-89F760AE4DA6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최근 develop 반영으로 달라진 점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AC4E382F-70F7-4632-8AAF-B4AB6ACD5103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C472EF6-7F93-4D6B-B2E6-71D41C3B215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2188ED-C5E1-4B43-9E0B-6D36490C583A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66675" cy="16192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97258F-EDB1-4687-816C-F1B725FF7C26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1. 프론트가 콘솔에서 서비스 화면으로 확장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BB33E4-2B1D-43A3-8B19-996ED945FFB9}"/>
              </a:ext>
            </a:extLst>
          </p:cNvPr>
          <p:cNvSpPr>
            <a:spLocks noGrp="1"/>
          </p:cNvSpPr>
          <p:nvPr/>
        </p:nvSpPr>
        <p:spPr>
          <a:xfrm>
            <a:off x="933450" y="2447925"/>
            <a:ext cx="2781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 dirty="0">
                <a:solidFill>
                  <a:srgbClr val="4B5563"/>
                </a:solidFill>
              </a:rPr>
              <a:t>frontend-v2가 </a:t>
            </a:r>
            <a:r>
              <a:rPr sz="1050" dirty="0" err="1">
                <a:solidFill>
                  <a:srgbClr val="4B5563"/>
                </a:solidFill>
              </a:rPr>
              <a:t>별도</a:t>
            </a:r>
            <a:r>
              <a:rPr sz="1050" dirty="0">
                <a:solidFill>
                  <a:srgbClr val="4B5563"/>
                </a:solidFill>
              </a:rPr>
              <a:t> React Router </a:t>
            </a:r>
            <a:r>
              <a:rPr sz="1050" dirty="0" err="1">
                <a:solidFill>
                  <a:srgbClr val="4B5563"/>
                </a:solidFill>
              </a:rPr>
              <a:t>앱으로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추가됐습니다</a:t>
            </a:r>
            <a:r>
              <a:rPr sz="1050" dirty="0">
                <a:solidFill>
                  <a:srgbClr val="4B5563"/>
                </a:solidFill>
              </a:rPr>
              <a:t>. 홈, </a:t>
            </a:r>
            <a:r>
              <a:rPr sz="1050" dirty="0" err="1">
                <a:solidFill>
                  <a:srgbClr val="4B5563"/>
                </a:solidFill>
              </a:rPr>
              <a:t>상품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상세</a:t>
            </a:r>
            <a:r>
              <a:rPr sz="1050" dirty="0">
                <a:solidFill>
                  <a:srgbClr val="4B5563"/>
                </a:solidFill>
              </a:rPr>
              <a:t>, </a:t>
            </a:r>
            <a:r>
              <a:rPr sz="1050" dirty="0" err="1">
                <a:solidFill>
                  <a:srgbClr val="4B5563"/>
                </a:solidFill>
              </a:rPr>
              <a:t>장바구니</a:t>
            </a:r>
            <a:r>
              <a:rPr sz="1050" dirty="0">
                <a:solidFill>
                  <a:srgbClr val="4B5563"/>
                </a:solidFill>
              </a:rPr>
              <a:t>, </a:t>
            </a:r>
            <a:r>
              <a:rPr sz="1050" dirty="0" err="1">
                <a:solidFill>
                  <a:srgbClr val="4B5563"/>
                </a:solidFill>
              </a:rPr>
              <a:t>마이페이지</a:t>
            </a:r>
            <a:r>
              <a:rPr sz="1050" dirty="0">
                <a:solidFill>
                  <a:srgbClr val="4B5563"/>
                </a:solidFill>
              </a:rPr>
              <a:t>, </a:t>
            </a:r>
            <a:r>
              <a:rPr sz="1050" dirty="0" err="1">
                <a:solidFill>
                  <a:srgbClr val="4B5563"/>
                </a:solidFill>
              </a:rPr>
              <a:t>주문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상세</a:t>
            </a:r>
            <a:r>
              <a:rPr sz="1050" dirty="0">
                <a:solidFill>
                  <a:srgbClr val="4B5563"/>
                </a:solidFill>
              </a:rPr>
              <a:t>, </a:t>
            </a:r>
            <a:r>
              <a:rPr sz="1050" dirty="0" err="1">
                <a:solidFill>
                  <a:srgbClr val="4B5563"/>
                </a:solidFill>
              </a:rPr>
              <a:t>결제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성공</a:t>
            </a:r>
            <a:r>
              <a:rPr sz="1050" dirty="0">
                <a:solidFill>
                  <a:srgbClr val="4B5563"/>
                </a:solidFill>
              </a:rPr>
              <a:t>/</a:t>
            </a:r>
            <a:r>
              <a:rPr sz="1050" dirty="0" err="1">
                <a:solidFill>
                  <a:srgbClr val="4B5563"/>
                </a:solidFill>
              </a:rPr>
              <a:t>실패</a:t>
            </a:r>
            <a:r>
              <a:rPr sz="1050" dirty="0">
                <a:solidFill>
                  <a:srgbClr val="4B5563"/>
                </a:solidFill>
              </a:rPr>
              <a:t>, </a:t>
            </a:r>
            <a:r>
              <a:rPr sz="1050" dirty="0" err="1">
                <a:solidFill>
                  <a:srgbClr val="4B5563"/>
                </a:solidFill>
              </a:rPr>
              <a:t>관리자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상품·카테고리·재고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화면을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분리했습니다</a:t>
            </a:r>
            <a:r>
              <a:rPr sz="1050" dirty="0">
                <a:solidFill>
                  <a:srgbClr val="4B5563"/>
                </a:solidFill>
              </a:rPr>
              <a:t>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7ED3605-03F7-48C2-AE8F-9C25D7815677}"/>
              </a:ext>
            </a:extLst>
          </p:cNvPr>
          <p:cNvSpPr>
            <a:spLocks noGrp="1"/>
          </p:cNvSpPr>
          <p:nvPr/>
        </p:nvSpPr>
        <p:spPr>
          <a:xfrm>
            <a:off x="4514850" y="18669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3A1163-BD5E-4DA8-A932-286FC2A473AF}"/>
              </a:ext>
            </a:extLst>
          </p:cNvPr>
          <p:cNvSpPr>
            <a:spLocks noGrp="1"/>
          </p:cNvSpPr>
          <p:nvPr/>
        </p:nvSpPr>
        <p:spPr>
          <a:xfrm>
            <a:off x="4514850" y="1866900"/>
            <a:ext cx="66675" cy="161925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B3BA68-953C-4B2A-AECD-789FDBBE646D}"/>
              </a:ext>
            </a:extLst>
          </p:cNvPr>
          <p:cNvSpPr>
            <a:spLocks noGrp="1"/>
          </p:cNvSpPr>
          <p:nvPr/>
        </p:nvSpPr>
        <p:spPr>
          <a:xfrm>
            <a:off x="4724399" y="2019300"/>
            <a:ext cx="3076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 dirty="0">
                <a:solidFill>
                  <a:srgbClr val="111827"/>
                </a:solidFill>
              </a:rPr>
              <a:t>2. </a:t>
            </a:r>
            <a:r>
              <a:rPr sz="1350" b="1" dirty="0" err="1">
                <a:solidFill>
                  <a:srgbClr val="111827"/>
                </a:solidFill>
              </a:rPr>
              <a:t>예약</a:t>
            </a:r>
            <a:r>
              <a:rPr sz="1350" b="1" dirty="0">
                <a:solidFill>
                  <a:srgbClr val="111827"/>
                </a:solidFill>
              </a:rPr>
              <a:t> </a:t>
            </a:r>
            <a:r>
              <a:rPr sz="1350" b="1" dirty="0" err="1">
                <a:solidFill>
                  <a:srgbClr val="111827"/>
                </a:solidFill>
              </a:rPr>
              <a:t>재고와</a:t>
            </a:r>
            <a:r>
              <a:rPr sz="1350" b="1" dirty="0">
                <a:solidFill>
                  <a:srgbClr val="111827"/>
                </a:solidFill>
              </a:rPr>
              <a:t> </a:t>
            </a:r>
            <a:r>
              <a:rPr sz="1350" b="1" dirty="0" err="1">
                <a:solidFill>
                  <a:srgbClr val="111827"/>
                </a:solidFill>
              </a:rPr>
              <a:t>주문</a:t>
            </a:r>
            <a:r>
              <a:rPr sz="1350" b="1" dirty="0">
                <a:solidFill>
                  <a:srgbClr val="111827"/>
                </a:solidFill>
              </a:rPr>
              <a:t> </a:t>
            </a:r>
            <a:r>
              <a:rPr sz="1350" b="1" dirty="0" err="1">
                <a:solidFill>
                  <a:srgbClr val="111827"/>
                </a:solidFill>
              </a:rPr>
              <a:t>후속</a:t>
            </a:r>
            <a:r>
              <a:rPr sz="1350" b="1" dirty="0">
                <a:solidFill>
                  <a:srgbClr val="111827"/>
                </a:solidFill>
              </a:rPr>
              <a:t> </a:t>
            </a:r>
            <a:r>
              <a:rPr sz="1350" b="1" dirty="0" err="1">
                <a:solidFill>
                  <a:srgbClr val="111827"/>
                </a:solidFill>
              </a:rPr>
              <a:t>처리가</a:t>
            </a:r>
            <a:r>
              <a:rPr sz="1350" b="1" dirty="0">
                <a:solidFill>
                  <a:srgbClr val="111827"/>
                </a:solidFill>
              </a:rPr>
              <a:t> </a:t>
            </a:r>
            <a:r>
              <a:rPr sz="1350" b="1" dirty="0" err="1">
                <a:solidFill>
                  <a:srgbClr val="111827"/>
                </a:solidFill>
              </a:rPr>
              <a:t>보강</a:t>
            </a:r>
            <a:endParaRPr sz="1350" b="1" dirty="0">
              <a:solidFill>
                <a:srgbClr val="111827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C6EEB2-94AD-4431-A622-FAFD45BFE1E7}"/>
              </a:ext>
            </a:extLst>
          </p:cNvPr>
          <p:cNvSpPr>
            <a:spLocks noGrp="1"/>
          </p:cNvSpPr>
          <p:nvPr/>
        </p:nvSpPr>
        <p:spPr>
          <a:xfrm>
            <a:off x="4724399" y="2437845"/>
            <a:ext cx="2781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 dirty="0" err="1">
                <a:solidFill>
                  <a:srgbClr val="4B5563"/>
                </a:solidFill>
              </a:rPr>
              <a:t>결제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대기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주문의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예약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재고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만료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스케줄러가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추가됐고</a:t>
            </a:r>
            <a:r>
              <a:rPr sz="1050" dirty="0">
                <a:solidFill>
                  <a:srgbClr val="4B5563"/>
                </a:solidFill>
              </a:rPr>
              <a:t>, </a:t>
            </a:r>
            <a:r>
              <a:rPr sz="1050" dirty="0" err="1">
                <a:solidFill>
                  <a:srgbClr val="4B5563"/>
                </a:solidFill>
              </a:rPr>
              <a:t>결제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완료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주문은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환불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없이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일반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취소되지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않도록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차단했습니다</a:t>
            </a:r>
            <a:r>
              <a:rPr sz="1050" dirty="0">
                <a:solidFill>
                  <a:srgbClr val="4B5563"/>
                </a:solidFill>
              </a:rPr>
              <a:t>. Toss </a:t>
            </a:r>
            <a:r>
              <a:rPr sz="1050" dirty="0" err="1">
                <a:solidFill>
                  <a:srgbClr val="4B5563"/>
                </a:solidFill>
              </a:rPr>
              <a:t>재시도용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orderId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생성도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보완됐습니다</a:t>
            </a:r>
            <a:r>
              <a:rPr sz="1050" dirty="0">
                <a:solidFill>
                  <a:srgbClr val="4B5563"/>
                </a:solidFill>
              </a:rPr>
              <a:t>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D1DDA2F-BE40-4AFA-B544-E5B3BBEA400E}"/>
              </a:ext>
            </a:extLst>
          </p:cNvPr>
          <p:cNvSpPr>
            <a:spLocks noGrp="1"/>
          </p:cNvSpPr>
          <p:nvPr/>
        </p:nvSpPr>
        <p:spPr>
          <a:xfrm>
            <a:off x="8305800" y="18669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137764-EE7F-499F-BB59-EB09C8B08A88}"/>
              </a:ext>
            </a:extLst>
          </p:cNvPr>
          <p:cNvSpPr>
            <a:spLocks noGrp="1"/>
          </p:cNvSpPr>
          <p:nvPr/>
        </p:nvSpPr>
        <p:spPr>
          <a:xfrm>
            <a:off x="8305800" y="1866900"/>
            <a:ext cx="66675" cy="16192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D5D136-E0B8-48A7-ACEE-077361003744}"/>
              </a:ext>
            </a:extLst>
          </p:cNvPr>
          <p:cNvSpPr>
            <a:spLocks noGrp="1"/>
          </p:cNvSpPr>
          <p:nvPr/>
        </p:nvSpPr>
        <p:spPr>
          <a:xfrm>
            <a:off x="8515350" y="20193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3. E 파트 안정화와 측정 결과 반영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363846-3A48-4F2D-9EE3-1EF6D75E2288}"/>
              </a:ext>
            </a:extLst>
          </p:cNvPr>
          <p:cNvSpPr>
            <a:spLocks noGrp="1"/>
          </p:cNvSpPr>
          <p:nvPr/>
        </p:nvSpPr>
        <p:spPr>
          <a:xfrm>
            <a:off x="8515350" y="2437845"/>
            <a:ext cx="2781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4B5563"/>
                </a:solidFill>
              </a:defRPr>
            </a:pPr>
            <a:r>
              <a:rPr sz="1050" dirty="0" err="1">
                <a:solidFill>
                  <a:srgbClr val="4B5563"/>
                </a:solidFill>
              </a:rPr>
              <a:t>장바구니·쿠폰·포인트의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동시성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결함을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보완했고</a:t>
            </a:r>
            <a:r>
              <a:rPr sz="1050" dirty="0">
                <a:solidFill>
                  <a:srgbClr val="4B5563"/>
                </a:solidFill>
              </a:rPr>
              <a:t>, MySQL/</a:t>
            </a:r>
            <a:r>
              <a:rPr sz="1050" dirty="0" err="1">
                <a:solidFill>
                  <a:srgbClr val="4B5563"/>
                </a:solidFill>
              </a:rPr>
              <a:t>Redis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기반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성능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측정에서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캐시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효과와</a:t>
            </a:r>
            <a:r>
              <a:rPr sz="1050" dirty="0">
                <a:solidFill>
                  <a:srgbClr val="4B5563"/>
                </a:solidFill>
              </a:rPr>
              <a:t> 락 </a:t>
            </a:r>
            <a:r>
              <a:rPr sz="1050" dirty="0" err="1">
                <a:solidFill>
                  <a:srgbClr val="4B5563"/>
                </a:solidFill>
              </a:rPr>
              <a:t>병목을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수치로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정리했습니다</a:t>
            </a:r>
            <a:r>
              <a:rPr sz="1050" dirty="0">
                <a:solidFill>
                  <a:srgbClr val="4B5563"/>
                </a:solidFill>
              </a:rPr>
              <a:t>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5DE5406E-3DA0-47F5-9F85-BEC031BFF320}"/>
              </a:ext>
            </a:extLst>
          </p:cNvPr>
          <p:cNvSpPr>
            <a:spLocks noGrp="1"/>
          </p:cNvSpPr>
          <p:nvPr/>
        </p:nvSpPr>
        <p:spPr>
          <a:xfrm>
            <a:off x="1028700" y="4095750"/>
            <a:ext cx="10134600" cy="1104900"/>
          </a:xfrm>
          <a:prstGeom prst="roundRect">
            <a:avLst>
              <a:gd name="adj" fmla="val 6897"/>
            </a:avLst>
          </a:prstGeom>
          <a:solidFill>
            <a:srgbClr val="FBFAF7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961CCC-D185-4CA6-B8A9-E3DB83923E51}"/>
              </a:ext>
            </a:extLst>
          </p:cNvPr>
          <p:cNvSpPr>
            <a:spLocks noGrp="1"/>
          </p:cNvSpPr>
          <p:nvPr/>
        </p:nvSpPr>
        <p:spPr>
          <a:xfrm>
            <a:off x="1295400" y="4324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C08A2C"/>
                </a:solidFill>
              </a:defRPr>
            </a:pPr>
            <a:r>
              <a:rPr sz="1350" b="1">
                <a:solidFill>
                  <a:srgbClr val="C08A2C"/>
                </a:solidFill>
              </a:rPr>
              <a:t>멘토링 질문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0F3E2F7-1EB0-4B74-84DE-A74A57338656}"/>
              </a:ext>
            </a:extLst>
          </p:cNvPr>
          <p:cNvSpPr>
            <a:spLocks noGrp="1"/>
          </p:cNvSpPr>
          <p:nvPr/>
        </p:nvSpPr>
        <p:spPr>
          <a:xfrm>
            <a:off x="3048000" y="4248150"/>
            <a:ext cx="742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이제 논점은 기능 존재 여부보다 정책입니다. 쿠폰/포인트를 어느 시점에 주문 금액에 반영할지, 예약 만료 스케줄러를 다중 인스턴스에서 어떻게 운영할지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827510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DBAFF6-E438-4ED3-BF84-4C502774056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F2E9A5-B281-4FFC-B916-734705F58C0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노션 MVP 합의와 실제 구현 차이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2F04B2-00E0-4AAF-949F-2C36324289B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초기 MVP 범위와 현재 develop 기준 구현 상태를 다시 대조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D0ABEF39-21D3-4E7B-87F0-C9CA6AE9A6DC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9A4C69E-11CE-41B1-8D1D-289EBE5E3375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11087100" cy="3219450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1D670F-9B66-4EBF-8C1B-230E8FD498FD}"/>
              </a:ext>
            </a:extLst>
          </p:cNvPr>
          <p:cNvSpPr>
            <a:spLocks noGrp="1"/>
          </p:cNvSpPr>
          <p:nvPr/>
        </p:nvSpPr>
        <p:spPr>
          <a:xfrm>
            <a:off x="781050" y="20193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노션 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E0D7B8-2136-4EFF-A986-F560892294A8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노션에 적힌 스펙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C3A074-0CDC-4351-8A35-0724FE608405}"/>
              </a:ext>
            </a:extLst>
          </p:cNvPr>
          <p:cNvSpPr>
            <a:spLocks noGrp="1"/>
          </p:cNvSpPr>
          <p:nvPr/>
        </p:nvSpPr>
        <p:spPr>
          <a:xfrm>
            <a:off x="5162550" y="201930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현재 코드 구현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8DE937-332D-4546-9EF9-9DA0829B2A81}"/>
              </a:ext>
            </a:extLst>
          </p:cNvPr>
          <p:cNvSpPr>
            <a:spLocks noGrp="1"/>
          </p:cNvSpPr>
          <p:nvPr/>
        </p:nvSpPr>
        <p:spPr>
          <a:xfrm>
            <a:off x="8420100" y="20193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C08A2C"/>
                </a:solidFill>
              </a:defRPr>
            </a:pPr>
            <a:r>
              <a:rPr sz="1125" b="1">
                <a:solidFill>
                  <a:srgbClr val="C08A2C"/>
                </a:solidFill>
              </a:rPr>
              <a:t>차이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5FC07EE7-5D68-415C-B01D-8C338B066BE2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D553F7-177B-4BB8-B6F1-09F8D3D85EA4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Must-Have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7C81E3-DDB9-4548-B8EB-9BA37334591E}"/>
              </a:ext>
            </a:extLst>
          </p:cNvPr>
          <p:cNvSpPr>
            <a:spLocks noGrp="1"/>
          </p:cNvSpPr>
          <p:nvPr/>
        </p:nvSpPr>
        <p:spPr>
          <a:xfrm>
            <a:off x="2190750" y="2457450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상품 CRUD/목록/페이징, 구매 및 재고 차감, 입고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22E87E-60C4-4EA6-BF5A-7755BDB0DCBD}"/>
              </a:ext>
            </a:extLst>
          </p:cNvPr>
          <p:cNvSpPr>
            <a:spLocks noGrp="1"/>
          </p:cNvSpPr>
          <p:nvPr/>
        </p:nvSpPr>
        <p:spPr>
          <a:xfrm>
            <a:off x="5162550" y="2457450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상품/카테고리/목록, 구매-예약-결제확정, 입고/이력 구현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08EEFD-B67D-477E-B7FC-A6DF781EE676}"/>
              </a:ext>
            </a:extLst>
          </p:cNvPr>
          <p:cNvSpPr>
            <a:spLocks noGrp="1"/>
          </p:cNvSpPr>
          <p:nvPr/>
        </p:nvSpPr>
        <p:spPr>
          <a:xfrm>
            <a:off x="8420100" y="24574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핵심 흐름은 구현됨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FFADE019-7500-404A-87E8-86ACBAB77054}"/>
              </a:ext>
            </a:extLst>
          </p:cNvPr>
          <p:cNvSpPr>
            <a:spLocks noGrp="1"/>
          </p:cNvSpPr>
          <p:nvPr/>
        </p:nvSpPr>
        <p:spPr>
          <a:xfrm>
            <a:off x="762000" y="2981325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B0C88C-261E-4C85-877F-12C0846F0547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최소 구현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40D71C-6DBC-4D15-A60C-D78015E46FF5}"/>
              </a:ext>
            </a:extLst>
          </p:cNvPr>
          <p:cNvSpPr>
            <a:spLocks noGrp="1"/>
          </p:cNvSpPr>
          <p:nvPr/>
        </p:nvSpPr>
        <p:spPr>
          <a:xfrm>
            <a:off x="2190750" y="3095625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카테고리, 인증/인가, 구매 취소, 임시 관리자 역할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BA09A0-1B6A-4F16-A5A8-5D933C96E093}"/>
              </a:ext>
            </a:extLst>
          </p:cNvPr>
          <p:cNvSpPr>
            <a:spLocks noGrp="1"/>
          </p:cNvSpPr>
          <p:nvPr/>
        </p:nvSpPr>
        <p:spPr>
          <a:xfrm>
            <a:off x="5162550" y="309562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Kakao OAuth/JWT, 취소/환불, ADMIN API 잠금 구현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A01179-61DB-4F6A-B4FF-53E86C9BCBC0}"/>
              </a:ext>
            </a:extLst>
          </p:cNvPr>
          <p:cNvSpPr>
            <a:spLocks noGrp="1"/>
          </p:cNvSpPr>
          <p:nvPr/>
        </p:nvSpPr>
        <p:spPr>
          <a:xfrm>
            <a:off x="8420100" y="309562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직접 회원가입/일반 로그인은 없음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EF07AB36-F010-465F-A8BE-56510A28EACE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52340D-8E1C-40FC-BAFF-F752B675DA92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Post-MVP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2FE05D-A6FC-432B-B89C-E5A86B383943}"/>
              </a:ext>
            </a:extLst>
          </p:cNvPr>
          <p:cNvSpPr>
            <a:spLocks noGrp="1"/>
          </p:cNvSpPr>
          <p:nvPr/>
        </p:nvSpPr>
        <p:spPr>
          <a:xfrm>
            <a:off x="2190750" y="3733800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장바구니, 리뷰/평점, 쿠폰, 마이페이지는 후순위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4867BD5-935B-4989-9B48-71EFEE8F3622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장바구니, 쿠폰, 리뷰, /me, 내 주문 목록, frontend-v2 구현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D7DF756-1F02-4E06-890C-CDB87B8C79F1}"/>
              </a:ext>
            </a:extLst>
          </p:cNvPr>
          <p:cNvSpPr>
            <a:spLocks noGrp="1"/>
          </p:cNvSpPr>
          <p:nvPr/>
        </p:nvSpPr>
        <p:spPr>
          <a:xfrm>
            <a:off x="8420100" y="37338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초기 MVP보다 범위가 넓어짐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7042795-9455-4157-9154-4BF5B23141A0}"/>
              </a:ext>
            </a:extLst>
          </p:cNvPr>
          <p:cNvSpPr>
            <a:spLocks noGrp="1"/>
          </p:cNvSpPr>
          <p:nvPr/>
        </p:nvSpPr>
        <p:spPr>
          <a:xfrm>
            <a:off x="762000" y="4257675"/>
            <a:ext cx="102870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36FEC41-BC25-4DBF-A0A3-967316B98D2D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2차 파트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D4EB09-4C62-4D96-8435-F060AB3EA0ED}"/>
              </a:ext>
            </a:extLst>
          </p:cNvPr>
          <p:cNvSpPr>
            <a:spLocks noGrp="1"/>
          </p:cNvSpPr>
          <p:nvPr/>
        </p:nvSpPr>
        <p:spPr>
          <a:xfrm>
            <a:off x="2190750" y="4371975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S3, 포인트, Spring Event, 이메일, CI/CD, CloudWatch, nGrinder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8A80372-EE19-43A9-88E6-0B95FAA5B9FA}"/>
              </a:ext>
            </a:extLst>
          </p:cNvPr>
          <p:cNvSpPr>
            <a:spLocks noGrp="1"/>
          </p:cNvSpPr>
          <p:nvPr/>
        </p:nvSpPr>
        <p:spPr>
          <a:xfrm>
            <a:off x="5162550" y="437197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123B52"/>
                </a:solidFill>
              </a:defRPr>
            </a:pPr>
            <a:r>
              <a:rPr sz="900" b="0">
                <a:solidFill>
                  <a:srgbClr val="123B52"/>
                </a:solidFill>
              </a:rPr>
              <a:t>Docker Compose, Swagger, Redis, 성능 테스트 일부 구현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21DEEB2-B634-46F5-9DE4-AA19E7640F91}"/>
              </a:ext>
            </a:extLst>
          </p:cNvPr>
          <p:cNvSpPr>
            <a:spLocks noGrp="1"/>
          </p:cNvSpPr>
          <p:nvPr/>
        </p:nvSpPr>
        <p:spPr>
          <a:xfrm>
            <a:off x="8420100" y="437197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AWS/CI/CD/모니터링은 남고, 이메일 알림은 구현 흐름 진입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7836738-468F-4159-820D-5F47F88D7F04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정리: 1순위 커머스 흐름은 실제 화면에서 검증 가능한 수준으로 넓어졌고, 2차 운영 항목은 배포 전 과제로 분리됩니다.</a:t>
            </a:r>
          </a:p>
        </p:txBody>
      </p:sp>
    </p:spTree>
    <p:extLst>
      <p:ext uri="{BB962C8B-B14F-4D97-AF65-F5344CB8AC3E}">
        <p14:creationId xmlns:p14="http://schemas.microsoft.com/office/powerpoint/2010/main" val="1029363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F02D63BE-5C86-4DA7-B919-CF6471C690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45BBD2-4DD5-4566-8F45-66058913592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노션 역할/API 명세와 구현상 불일치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05A27E-91C7-4974-946B-8852B56B7C2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4B5563"/>
                </a:solidFill>
              </a:defRPr>
            </a:pPr>
            <a:r>
              <a:rPr sz="1125">
                <a:solidFill>
                  <a:srgbClr val="4B5563"/>
                </a:solidFill>
              </a:rPr>
              <a:t>이미 해결된 항목은 제외하고, 정책 결정이 필요한 차이만 남김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6386D67-7CC6-4B95-A19B-A2E82B47D23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0"/>
          </a:xfrm>
          <a:prstGeom prst="line">
            <a:avLst/>
          </a:prstGeom>
          <a:ln w="9525">
            <a:solidFill>
              <a:srgbClr val="D7D0C2"/>
            </a:solidFill>
            <a:prstDash val="solid"/>
          </a:ln>
        </p:spPr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2CE077C-041E-4805-A298-28F8902CA3DE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4876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B8A803-3088-4253-9C80-2E8ACBD6588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66675" cy="8953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022617-E021-4A0B-A0A8-A6721393B1AF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결제 API의 소유자 경계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A0AE72-2C2C-447A-8A65-55DEE576D07B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436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38">
                <a:solidFill>
                  <a:srgbClr val="4B5563"/>
                </a:solidFill>
              </a:defRPr>
            </a:pPr>
            <a:r>
              <a:rPr sz="938">
                <a:solidFill>
                  <a:srgbClr val="4B5563"/>
                </a:solidFill>
              </a:rPr>
              <a:t>구매와 주문 조회는 AuthMember 기반이지만, 결제 승인/환불 API는 주문 소유자 검증 책임이 서비스 흐름에 더 명확히 드러나야 합니다.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E0A9EB0-6EEA-43A7-8984-6A89DC0FCFD0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4876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CEB2B6-313F-41CE-B718-EA0541DDB7BB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66675" cy="895350"/>
          </a:xfrm>
          <a:prstGeom prst="rect">
            <a:avLst/>
          </a:prstGeom>
          <a:solidFill>
            <a:srgbClr val="C08A2C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F835CD-5B0E-46E3-931A-6600E7633FC1}"/>
              </a:ext>
            </a:extLst>
          </p:cNvPr>
          <p:cNvSpPr>
            <a:spLocks noGrp="1"/>
          </p:cNvSpPr>
          <p:nvPr/>
        </p:nvSpPr>
        <p:spPr>
          <a:xfrm>
            <a:off x="6362700" y="1943100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재고 조회 공개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7C9C1A-D0CF-4B3F-AFDF-E65DBBA73168}"/>
              </a:ext>
            </a:extLst>
          </p:cNvPr>
          <p:cNvSpPr>
            <a:spLocks noGrp="1"/>
          </p:cNvSpPr>
          <p:nvPr/>
        </p:nvSpPr>
        <p:spPr>
          <a:xfrm>
            <a:off x="6362700" y="2209800"/>
            <a:ext cx="436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38">
                <a:solidFill>
                  <a:srgbClr val="4B5563"/>
                </a:solidFill>
              </a:defRPr>
            </a:pPr>
            <a:r>
              <a:rPr sz="938">
                <a:solidFill>
                  <a:srgbClr val="4B5563"/>
                </a:solidFill>
              </a:rPr>
              <a:t>현재 재고 조회는 상품 상세 UX를 위해 공개에 가깝고, 입고/이력만 ADMIN입니다. 노션의 ADMIN 재고 조회 요구와 기준을 맞출 필요가 있습니다.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7B9CE45-2AD9-4880-ABC3-ED272FC5B183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4876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292CBC-D850-4936-B8D7-335261163192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66675" cy="8953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652CD4-F838-4044-B877-BD896509FF14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리뷰 작성 조건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AB8007-A789-42D2-BB8F-3D64890DC4FB}"/>
              </a:ext>
            </a:extLst>
          </p:cNvPr>
          <p:cNvSpPr>
            <a:spLocks noGrp="1"/>
          </p:cNvSpPr>
          <p:nvPr/>
        </p:nvSpPr>
        <p:spPr>
          <a:xfrm>
            <a:off x="952500" y="3409950"/>
            <a:ext cx="436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38">
                <a:solidFill>
                  <a:srgbClr val="4B5563"/>
                </a:solidFill>
              </a:defRPr>
            </a:pPr>
            <a:r>
              <a:rPr sz="938">
                <a:solidFill>
                  <a:srgbClr val="4B5563"/>
                </a:solidFill>
              </a:rPr>
              <a:t>노션은 구매자만 리뷰 작성을 요구합니다. 현재 작성자 수정/삭제 검증은 있지만, 결제 완료 구매 이력 검증은 추가 정리가 필요합니다.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F0EAF1BB-B2CB-4F95-B7C8-B488DDEC66A3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4876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5482FF-F29C-4008-9A59-EE40ED4BAB28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66675" cy="895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27C42A-559B-4317-B14F-A1C0994C25DA}"/>
              </a:ext>
            </a:extLst>
          </p:cNvPr>
          <p:cNvSpPr>
            <a:spLocks noGrp="1"/>
          </p:cNvSpPr>
          <p:nvPr/>
        </p:nvSpPr>
        <p:spPr>
          <a:xfrm>
            <a:off x="6362700" y="3143250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이미지/S3 연동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C30394-346C-4A02-A975-28500C11AAE6}"/>
              </a:ext>
            </a:extLst>
          </p:cNvPr>
          <p:cNvSpPr>
            <a:spLocks noGrp="1"/>
          </p:cNvSpPr>
          <p:nvPr/>
        </p:nvSpPr>
        <p:spPr>
          <a:xfrm>
            <a:off x="6362700" y="3409950"/>
            <a:ext cx="436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38">
                <a:solidFill>
                  <a:srgbClr val="4B5563"/>
                </a:solidFill>
              </a:defRPr>
            </a:pPr>
            <a:r>
              <a:rPr sz="938">
                <a:solidFill>
                  <a:srgbClr val="4B5563"/>
                </a:solidFill>
              </a:rPr>
              <a:t>ImageService는 imageUrl 저장 중심입니다. 실제 S3 업로드/삭제, 파일 검증, CDN 정책은 아직 별도 과제입니다.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36953D5-8AAC-48F8-8E2F-185FE9D2D4AE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4876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E2FF90-5961-4C95-A3AE-9CEF9E4BF5B5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66675" cy="895350"/>
          </a:xfrm>
          <a:prstGeom prst="rect">
            <a:avLst/>
          </a:prstGeom>
          <a:solidFill>
            <a:srgbClr val="123B52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F78EED5-FDBF-4E42-A6C6-4A296B19538E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쿠폰·포인트 결제 반영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AAA7A37-487F-485F-9955-1F3460CDFEFE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436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38">
                <a:solidFill>
                  <a:srgbClr val="4B5563"/>
                </a:solidFill>
              </a:defRPr>
            </a:pPr>
            <a:r>
              <a:rPr sz="938">
                <a:solidFill>
                  <a:srgbClr val="4B5563"/>
                </a:solidFill>
              </a:rPr>
              <a:t>쿠폰 발급/조회와 포인트 잔액/이력은 생겼지만, 최종 주문 금액에 할인·포인트를 반영하는 정책은 아직 합의가 필요합니다.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F2FD8EE-8FFD-4BD2-9181-804615A3B087}"/>
              </a:ext>
            </a:extLst>
          </p:cNvPr>
          <p:cNvSpPr>
            <a:spLocks noGrp="1"/>
          </p:cNvSpPr>
          <p:nvPr/>
        </p:nvSpPr>
        <p:spPr>
          <a:xfrm>
            <a:off x="6153150" y="4210050"/>
            <a:ext cx="4876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0C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DEC6748-12D5-4836-AA75-F1A77E94C3DD}"/>
              </a:ext>
            </a:extLst>
          </p:cNvPr>
          <p:cNvSpPr>
            <a:spLocks noGrp="1"/>
          </p:cNvSpPr>
          <p:nvPr/>
        </p:nvSpPr>
        <p:spPr>
          <a:xfrm>
            <a:off x="6153150" y="4210050"/>
            <a:ext cx="66675" cy="8953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F3E8E33-CF4F-4031-ABE7-4F402B0282E3}"/>
              </a:ext>
            </a:extLst>
          </p:cNvPr>
          <p:cNvSpPr>
            <a:spLocks noGrp="1"/>
          </p:cNvSpPr>
          <p:nvPr/>
        </p:nvSpPr>
        <p:spPr>
          <a:xfrm>
            <a:off x="6362700" y="4343400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운영 고도화 차이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CFA154-3586-4580-8F98-A111F2D8A137}"/>
              </a:ext>
            </a:extLst>
          </p:cNvPr>
          <p:cNvSpPr>
            <a:spLocks noGrp="1"/>
          </p:cNvSpPr>
          <p:nvPr/>
        </p:nvSpPr>
        <p:spPr>
          <a:xfrm>
            <a:off x="6362700" y="4610100"/>
            <a:ext cx="436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38">
                <a:solidFill>
                  <a:srgbClr val="4B5563"/>
                </a:solidFill>
              </a:defRPr>
            </a:pPr>
            <a:r>
              <a:rPr sz="938">
                <a:solidFill>
                  <a:srgbClr val="4B5563"/>
                </a:solidFill>
              </a:rPr>
              <a:t>frontend-v2와 Docker 로컬 환경은 생겼지만, GitHub Actions, 클라우드 배포, 모니터링, nGrinder 운영 리포트는 후속입니다.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3E4A0C4-16D8-488C-8257-F4C77138D103}"/>
              </a:ext>
            </a:extLst>
          </p:cNvPr>
          <p:cNvSpPr>
            <a:spLocks noGrp="1"/>
          </p:cNvSpPr>
          <p:nvPr/>
        </p:nvSpPr>
        <p:spPr>
          <a:xfrm>
            <a:off x="800100" y="56007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멘토링 질문: 지금은 핵심 쇼핑 흐름을 닫고, 할인/포인트/배포/모니터링은 명확한 정책과 책임자를 정해 2차 과제로 분리하는 판단이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30725988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10896"/>
            <a:ext cx="34747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722376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152533"/>
                </a:solidFill>
                <a:latin typeface="Malgun Gothic"/>
              </a:rPr>
              <a:t>파트별 남은 기능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" y="1874519"/>
            <a:ext cx="4434840" cy="22402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2130552"/>
            <a:ext cx="38404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144E69"/>
                </a:solidFill>
                <a:latin typeface="Malgun Gothic"/>
              </a:rPr>
              <a:t>D. 결제·주문 상태머신 + 이벤트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" y="2487168"/>
            <a:ext cx="38404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5F6973"/>
                </a:solidFill>
                <a:latin typeface="Malgun Gothic"/>
              </a:rPr>
              <a:t>담당: 김승진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71800"/>
            <a:ext cx="3703320" cy="713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2000"/>
              </a:lnSpc>
            </a:pPr>
            <a:r>
              <a:rPr sz="1220" b="0">
                <a:solidFill>
                  <a:srgbClr val="152533"/>
                </a:solidFill>
                <a:latin typeface="Malgun Gothic"/>
              </a:rPr>
              <a:t>결제 완료 이메일 알림은 구현 흐름 진입
결제/환불 API 소유자 검증 경계 재점검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874519"/>
            <a:ext cx="4434840" cy="22402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33288" y="2130552"/>
            <a:ext cx="38404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2A754E"/>
                </a:solidFill>
                <a:latin typeface="Malgun Gothic"/>
              </a:rPr>
              <a:t>C. 재고·구매·취소 및 동시성 처리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3288" y="2487168"/>
            <a:ext cx="38404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5F6973"/>
                </a:solidFill>
                <a:latin typeface="Malgun Gothic"/>
              </a:rPr>
              <a:t>담당: 이지은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4456" y="2971800"/>
            <a:ext cx="3703320" cy="9875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2000"/>
              </a:lnSpc>
            </a:pPr>
            <a:r>
              <a:rPr sz="1220" b="0">
                <a:solidFill>
                  <a:srgbClr val="152533"/>
                </a:solidFill>
                <a:latin typeface="Malgun Gothic"/>
              </a:rPr>
              <a:t>예약 재고 만료/복구 흐름은 추가됨
주문 상태별 취소·환불 정책 최종 정리
쿠폰·포인트 할인 반영 시 재고/주문 금액과 함께 재검증
성능 측정 결과를 발표용 수치로 정리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956048"/>
            <a:ext cx="19202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B15227"/>
                </a:solidFill>
                <a:latin typeface="Malgun Gothic"/>
              </a:rPr>
              <a:t>추가 반영 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321808"/>
            <a:ext cx="8686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8992" y="5458968"/>
            <a:ext cx="8183879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20" b="0">
                <a:solidFill>
                  <a:srgbClr val="152533"/>
                </a:solidFill>
                <a:latin typeface="Malgun Gothic"/>
              </a:rPr>
              <a:t>frontend-v2 통합 테스트 결과와 팀원별 잔여 기능이 공유되면 같은 형식으로 이어서 업데이트합니다.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10896"/>
            <a:ext cx="34747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r>
              <a:rPr sz="1200" b="1">
                <a:solidFill>
                  <a:srgbClr val="5F6973"/>
                </a:solidFill>
                <a:latin typeface="Malgun Gothic"/>
              </a:rPr>
              <a:t>SoldOut Mentoring / 07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804672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152533"/>
                </a:solidFill>
                <a:latin typeface="Malgun Gothic"/>
              </a:rPr>
              <a:t>락 성능 비교로 얻은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95097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5F6973"/>
                </a:solidFill>
                <a:latin typeface="Malgun Gothic"/>
              </a:rPr>
              <a:t>멀티 인스턴스를 고려해 분산락을 제안했지만, k6 측정 결과 현재 구조에서는 비관적 락이 더 적합했습니다.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9646920" cy="1874519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947672"/>
            <a:ext cx="20116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B15227"/>
                </a:solidFill>
                <a:latin typeface="Malgun Gothic"/>
              </a:rPr>
              <a:t>k6 멀티 인스턴스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14173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F6973"/>
                </a:solidFill>
                <a:latin typeface="Malgun Gothic"/>
              </a:rPr>
              <a:t>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331720"/>
            <a:ext cx="16002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F6973"/>
                </a:solidFill>
                <a:latin typeface="Malgun Gothic"/>
              </a:rPr>
              <a:t>처리량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331720"/>
            <a:ext cx="13258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F6973"/>
                </a:solidFill>
                <a:latin typeface="Malgun Gothic"/>
              </a:rPr>
              <a:t>p95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331720"/>
            <a:ext cx="12344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F6973"/>
                </a:solidFill>
                <a:latin typeface="Malgun Gothic"/>
              </a:rPr>
              <a:t>성공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331720"/>
            <a:ext cx="14173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F6973"/>
                </a:solidFill>
                <a:latin typeface="Malgun Gothic"/>
              </a:rPr>
              <a:t>락 타임아웃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697480"/>
            <a:ext cx="1417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52533"/>
                </a:solidFill>
                <a:latin typeface="Malgun Gothic"/>
              </a:rPr>
              <a:t>비관적 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697480"/>
            <a:ext cx="1600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2A754E"/>
                </a:solidFill>
                <a:latin typeface="Malgun Gothic"/>
              </a:rPr>
              <a:t>149~194 req/s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697480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2A754E"/>
                </a:solidFill>
                <a:latin typeface="Malgun Gothic"/>
              </a:rPr>
              <a:t>530~746ms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697480"/>
            <a:ext cx="12344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2A754E"/>
                </a:solidFill>
                <a:latin typeface="Malgun Gothic"/>
              </a:rPr>
              <a:t>500/500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697480"/>
            <a:ext cx="1417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2A754E"/>
                </a:solidFill>
                <a:latin typeface="Malgun Gothic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090672"/>
            <a:ext cx="1417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52533"/>
                </a:solidFill>
                <a:latin typeface="Malgun Gothic"/>
              </a:rPr>
              <a:t>분산락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090672"/>
            <a:ext cx="1600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AB3F31"/>
                </a:solidFill>
                <a:latin typeface="Malgun Gothic"/>
              </a:rPr>
              <a:t>108~146 req/s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090672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AB3F31"/>
                </a:solidFill>
                <a:latin typeface="Malgun Gothic"/>
              </a:rPr>
              <a:t>2296~2494ms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090672"/>
            <a:ext cx="12344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AB3F31"/>
                </a:solidFill>
                <a:latin typeface="Malgun Gothic"/>
              </a:rPr>
              <a:t>487~497/500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3090672"/>
            <a:ext cx="1417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AB3F31"/>
                </a:solidFill>
                <a:latin typeface="Malgun Gothic"/>
              </a:rPr>
              <a:t>3~13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886200"/>
            <a:ext cx="2971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886200"/>
            <a:ext cx="63500" cy="1170432"/>
          </a:xfrm>
          <a:prstGeom prst="rect">
            <a:avLst/>
          </a:prstGeom>
          <a:solidFill>
            <a:srgbClr val="14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" y="4064000"/>
            <a:ext cx="25146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44E69"/>
                </a:solidFill>
                <a:latin typeface="Malgun Gothic"/>
              </a:rPr>
              <a:t>처음 가정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" y="4445000"/>
            <a:ext cx="2514600" cy="510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80" b="0">
                <a:solidFill>
                  <a:srgbClr val="152533"/>
                </a:solidFill>
                <a:latin typeface="Malgun Gothic"/>
              </a:rPr>
              <a:t>멀티 인스턴스 환경을 고려하면 분산락이 더 좋을 수 있다고 판단하고 고도화 후보로 제안했습니다.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886200"/>
            <a:ext cx="2971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3886200"/>
            <a:ext cx="63500" cy="1170432"/>
          </a:xfrm>
          <a:prstGeom prst="rect">
            <a:avLst/>
          </a:prstGeom>
          <a:solidFill>
            <a:srgbClr val="2A7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4064000"/>
            <a:ext cx="25146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2A754E"/>
                </a:solidFill>
                <a:latin typeface="Malgun Gothic"/>
              </a:rPr>
              <a:t>측정 후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4445000"/>
            <a:ext cx="2514600" cy="510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80" b="0">
                <a:solidFill>
                  <a:srgbClr val="152533"/>
                </a:solidFill>
                <a:latin typeface="Malgun Gothic"/>
              </a:rPr>
              <a:t>현재 로직은 MySQL의 단일 이벤트 row를 갱신하므로 DB 비관적 락만으로도 정합성이 보장됐습니다.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9168" y="3886200"/>
            <a:ext cx="2971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9168" y="3886200"/>
            <a:ext cx="63500" cy="1170432"/>
          </a:xfrm>
          <a:prstGeom prst="rect">
            <a:avLst/>
          </a:prstGeom>
          <a:solidFill>
            <a:srgbClr val="B15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87768" y="4064000"/>
            <a:ext cx="25146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B15227"/>
                </a:solidFill>
                <a:latin typeface="Malgun Gothic"/>
              </a:rPr>
              <a:t>기술 선택 교훈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7768" y="4445000"/>
            <a:ext cx="2514600" cy="510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80" b="0">
                <a:solidFill>
                  <a:srgbClr val="152533"/>
                </a:solidFill>
                <a:latin typeface="Malgun Gothic"/>
              </a:rPr>
              <a:t>좋아 보이는 기술을 먼저 도입하면 Redis 락 대기와 네트워크 비용으로 오히려 성능 손해가 날 수 있었습니다.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5285232"/>
            <a:ext cx="9646920" cy="713232"/>
          </a:xfrm>
          <a:prstGeom prst="roundRect">
            <a:avLst/>
          </a:prstGeom>
          <a:solidFill>
            <a:srgbClr val="15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27000" bIns="1016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후속 방향: 이미 도입한 분산락은 사용 경험을 확보하되, DB 구조 개선·Redis 원자 연산·큐 기반 처리 등 더 적합한 대안을 함께 검토합니다.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2316</Words>
  <Application>Microsoft Office PowerPoint</Application>
  <DocSecurity>0</DocSecurity>
  <PresentationFormat>와이드스크린</PresentationFormat>
  <Paragraphs>389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9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ParkSunWoo</cp:lastModifiedBy>
  <cp:revision>1</cp:revision>
  <dcterms:created xsi:type="dcterms:W3CDTF">2026-07-28T07:05:44Z</dcterms:created>
  <dcterms:modified xsi:type="dcterms:W3CDTF">2026-07-28T07:12:13Z</dcterms:modified>
</cp:coreProperties>
</file>